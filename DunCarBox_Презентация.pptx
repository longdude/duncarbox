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секунд.</a:t>
            </a:r>
          </a:p>
          <a:p>
            <a:r>
              <a:t>DunCarBox — рабочее место упаковщика. Мы берём заказ с размерами и весом товаров, доступный каталог коробок и превращаем их в конкретный план укладки. Результат отвечает сразу на три вопроса: какие коробки взять, где расположить каждый товар и в какой последовательности действовать. В проекте есть серверный расчёт, визуализация и объяснение проблемных случаев. Сегодня покажу путь от входных данных до понятной инструкции и обозначу границы модели.</a:t>
            </a:r>
          </a:p>
          <a:p/>
          <a:p>
            <a:r>
              <a:t>Источники в репозитории:</a:t>
            </a:r>
          </a:p>
          <a:p>
            <a:r>
              <a:t>README.md</a:t>
            </a:r>
          </a:p>
          <a:p>
            <a:r>
              <a:t>docs/UX.md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секунд.</a:t>
            </a:r>
          </a:p>
          <a:p>
            <a:r>
              <a:t>Оператору недостаточно знать суммарный объём заказа. Предметы могут не пройти по одному измерению, превысить допустимую массу или потребовать коробки, которых нет на складе. Даже корректная комбинация коробок ещё не объясняет, как именно расположить товары. Поэтому задача продукта шире подбора размера: нужно связать геометрическое решение с действиями человека. Ожидаемая ценность — более воспроизводимая сборка; экономию времени и материалов мы предлагаем измерять на реальных заказах, а не заявляем заранее.</a:t>
            </a:r>
          </a:p>
          <a:p/>
          <a:p>
            <a:r>
              <a:t>Источники в репозитории:</a:t>
            </a:r>
          </a:p>
          <a:p>
            <a:r>
              <a:t>docs/CONTRACTS.md</a:t>
            </a:r>
          </a:p>
          <a:p>
            <a:r>
              <a:t>docs/PACKING_ENGINE.md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секунд.</a:t>
            </a:r>
          </a:p>
          <a:p>
            <a:r>
              <a:t>Сначала задаём товары и проверяем каталог коробок: внутренние размеры, предельный вес и доступное количество. Затем выбираем алгоритм и запускаем расчёт. Он идёт в фоне, интерфейс показывает этап и прошедшее время, а оператор может остановить серверную задачу. Полученный план можно просматривать по коробкам и шагам. Если заказ длинный, список товаров сворачивается; аналогично устроен список неупакованных единиц. В результате остаются понятная сводка, диагностика и полный экспорт JSON для дальнейшей работы с данными.</a:t>
            </a:r>
          </a:p>
          <a:p/>
          <a:p>
            <a:r>
              <a:t>Источники в репозитории:</a:t>
            </a:r>
          </a:p>
          <a:p>
            <a:r>
              <a:t>frontend/src/features</a:t>
            </a:r>
          </a:p>
          <a:p>
            <a:r>
              <a:t>docs/UX.md</a:t>
            </a:r>
          </a:p>
          <a:p>
            <a:r>
              <a:t>backend/app/services/packing_jobs.py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секунд.</a:t>
            </a:r>
          </a:p>
          <a:p>
            <a:r>
              <a:t>В модели каждая физическая единица товара — жёсткий прямоугольный параллелепипед с координатами в миллиметрах. Размещения не пересекаются и не выходят за внутренние границы коробки; учитываются разрешённые повороты, масса и остаток. Отдельное условие — опора основания: обычная эвристика допускает минимум восемьдесят процентов, Z3 требует сто процентов, включая совместную опору на несколько предметов. После расчёта независимый валидатор проверяет план. Это ещё не полная физическая симуляция: хрупкость, центр масс, прочность и траектория загрузки остаются за рамками MVP.</a:t>
            </a:r>
          </a:p>
          <a:p/>
          <a:p>
            <a:r>
              <a:t>Источники в репозитории:</a:t>
            </a:r>
          </a:p>
          <a:p>
            <a:r>
              <a:t>backend/app/packing/validation.py</a:t>
            </a:r>
          </a:p>
          <a:p>
            <a:r>
              <a:t>docs/PACKING_ENGINE.md</a:t>
            </a:r>
          </a:p>
          <a:p>
            <a:r>
              <a:t>docs/Z3_ENGINE.md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секунд.</a:t>
            </a:r>
          </a:p>
          <a:p>
            <a:r>
              <a:t>В проекте два взаимозаменяемых движка. Эвристика строит кандидаты несколькими детерминированными стратегиями и выбирает проверенный результат. Она удобна для быстрого получения плана, но не доказывает глобальный оптимум. Z3 описывает задачу как систему ограничений с последовательными целями: сначала больше единиц, затем больше объёма товаров, затем меньше суммарный объём коробок и, наконец, меньше коробок. Ограничение по времени снято: поиск идёт до завершения или ручной отмены. Интерфейс отдельно сообщает, доказана ли оптимальность. Доказательство относится к этой математической модели, а не к неучтённым физическим свойствам товара.</a:t>
            </a:r>
          </a:p>
          <a:p/>
          <a:p>
            <a:r>
              <a:t>Источники в репозитории:</a:t>
            </a:r>
          </a:p>
          <a:p>
            <a:r>
              <a:t>backend/app/packing/z3_engine.py::_objective</a:t>
            </a:r>
          </a:p>
          <a:p>
            <a:r>
              <a:t>backend/app/packing/z3_model.py</a:t>
            </a:r>
          </a:p>
          <a:p>
            <a:r>
              <a:t>docs/Z3_ENGINE.md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секунд.</a:t>
            </a:r>
          </a:p>
          <a:p>
            <a:r>
              <a:t>Здесь не декоративный макет: схема использует координаты первого короба из фиксированного сценария «Несколько коробок». Чайник стоит у начала координат. Набор фильтров повёрнут: после поворота его размеры восемьдесят на сто двадцать на сорок миллиметров, а начальная точка — двести двадцать по оси x. Рядом находится термос. В приложении те же данные отображаются в 3D и по слоям, а текущий предмет связан с шагом инструкции. Оператор может переключать коробки и шаги. Иллюстрация показывает передний фрагмент основания, чтобы выделить товары; полный размер основания — четыреста на триста миллиметров.</a:t>
            </a:r>
          </a:p>
          <a:p/>
          <a:p>
            <a:r>
              <a:t>Источники в репозитории:</a:t>
            </a:r>
          </a:p>
          <a:p>
            <a:r>
              <a:t>demo/multiple-boxes.response.json</a:t>
            </a:r>
          </a:p>
          <a:p>
            <a:r>
              <a:t>frontend/src/three/geometry.ts</a:t>
            </a:r>
          </a:p>
          <a:p>
            <a:r>
              <a:t>backend/app/services/instructions.py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секунд.</a:t>
            </a:r>
          </a:p>
          <a:p>
            <a:r>
              <a:t>При нехватке коробок сервис не теряет уже найденную часть плана. В фиксированном примере из трёх подарочных наборов один помещён в единственную коробку S. Два остаются неупакованными, потому что подходящих коробок больше нет. Для других ситуаций есть отдельные причины: размеры, вес или отсутствие найденного размещения. Последнюю формулировку мы не выдаём за доказательство физической невозможности. Длинный список оставшихся товаров можно свернуть и открыть при разборе. Все единицы сохраняются в результате и экспорте JSON.</a:t>
            </a:r>
          </a:p>
          <a:p/>
          <a:p>
            <a:r>
              <a:t>Источники в репозитории:</a:t>
            </a:r>
          </a:p>
          <a:p>
            <a:r>
              <a:t>demo/stock-shortage.response.json</a:t>
            </a:r>
          </a:p>
          <a:p>
            <a:r>
              <a:t>backend/app/packing/diagnostics.py</a:t>
            </a:r>
          </a:p>
          <a:p>
            <a:r>
              <a:t>docs/UX.md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секунд.</a:t>
            </a:r>
          </a:p>
          <a:p>
            <a:r>
              <a:t>Frontend на React и TypeScript собирает заказ и визуализирует результат с помощью Three.js. FastAPI валидирует входные данные, запускает фоновую задачу и передаёт чистые доменные модели выбранному движку. У эвристики и Z3 одинаковый формат ответа. Независимая проверка и генерация инструкций работают поверх фактических размещений. PostgreSQL хранит каталог коробок; расчёт использует снимок остатков и пока не резервирует их. Локальный стек запускается через Docker Compose, в репозитории также есть серверный контур k3d. Временные результаты фоновых задач не заменяют постоянную историю заказов.</a:t>
            </a:r>
          </a:p>
          <a:p/>
          <a:p>
            <a:r>
              <a:t>Источники в репозитории:</a:t>
            </a:r>
          </a:p>
          <a:p>
            <a:r>
              <a:t>docs/ARCHITECTURE.md</a:t>
            </a:r>
          </a:p>
          <a:p>
            <a:r>
              <a:t>backend/app/main.py</a:t>
            </a:r>
          </a:p>
          <a:p>
            <a:r>
              <a:t>frontend/package.json</a:t>
            </a:r>
          </a:p>
          <a:p>
            <a:r>
              <a:t>infra/k3d-infra/README.md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секунд.</a:t>
            </a:r>
          </a:p>
          <a:p>
            <a:r>
              <a:t>Для выступления подготовлены четыре автономных сценария: простой заказ, несколько коробок, слишком крупный товар и дефицит коробок. Они воспроизводят сохранённые геометрически корректные ответы без сервера и явно помечены как демо. Числа на слайде взяты прямо из этих файлов, их нельзя интерпретировать как результат сравнения алгоритмов. Для живого расчёта выбираем серверный режим. Отдельно есть генератор заказа на десять тысяч предметов, сто видов и восемь типов коробок. Такой сценарий демонстрирует работу с большим входом, но мы не заявляем здесь доказанный оптимум Z3 или время его достижения.</a:t>
            </a:r>
          </a:p>
          <a:p/>
          <a:p>
            <a:r>
              <a:t>Источники в репозитории:</a:t>
            </a:r>
          </a:p>
          <a:p>
            <a:r>
              <a:t>demo/simple-order.response.json</a:t>
            </a:r>
          </a:p>
          <a:p>
            <a:r>
              <a:t>demo/multiple-boxes.response.json</a:t>
            </a:r>
          </a:p>
          <a:p>
            <a:r>
              <a:t>demo/oversized.response.json</a:t>
            </a:r>
          </a:p>
          <a:p>
            <a:r>
              <a:t>demo/stock-shortage.response.json</a:t>
            </a:r>
          </a:p>
          <a:p>
            <a:r>
              <a:t>backend/app/packing/workloads.py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секунд.</a:t>
            </a:r>
          </a:p>
          <a:p>
            <a:r>
              <a:t>Следующий этап — пилот на реальных заказах. Вначале измеряем длительность сборки, заполнение коробок и число ручных исправлений, чтобы проверить практическую пользу. Затем расширяем модель теми ограничениями, которые действительно важны складу: хрупкостью, нагрузкой и стоимостью упаковки. После этого можно связать расчёт с WMS, добавить резервирование и постоянную историю. Уже сейчас MVP соединяет заказ, геометрический план, понятные шаги и диагностику в одном интерфейсе. DunCarBox — понятный план для каждой коробки. Спасибо, готов показать сценарий или ответить на вопросы.</a:t>
            </a:r>
          </a:p>
          <a:p/>
          <a:p>
            <a:r>
              <a:t>Источники в репозитории:</a:t>
            </a:r>
          </a:p>
          <a:p>
            <a:r>
              <a:t>docs/TASKS.md</a:t>
            </a:r>
          </a:p>
          <a:p>
            <a:r>
              <a:t>docs/PACKING_ENGINE.md</a:t>
            </a:r>
          </a:p>
          <a:p>
            <a:r>
              <a:t>docs/ARCHITECTURE.md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D3C"/>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A7E4DA"/>
                </a:solidFill>
                <a:latin typeface="Segoe UI"/>
              </a:defRPr>
            </a:pPr>
            <a:r>
              <a:t>01 / ОТ ЗАКАЗА К ДЕЙСТВИЮ</a:t>
            </a:r>
          </a:p>
        </p:txBody>
      </p:sp>
      <p:cxnSp>
        <p:nvCxnSpPr>
          <p:cNvPr id="3" name="Connector 2"/>
          <p:cNvCxnSpPr/>
          <p:nvPr/>
        </p:nvCxnSpPr>
        <p:spPr>
          <a:xfrm>
            <a:off x="548640" y="6473952"/>
            <a:ext cx="11091672" cy="0"/>
          </a:xfrm>
          <a:prstGeom prst="line">
            <a:avLst/>
          </a:prstGeom>
          <a:ln w="8890">
            <a:solidFill>
              <a:srgbClr val="31495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B1C2CA"/>
                </a:solidFill>
                <a:latin typeface="Segoe UI"/>
              </a:defRPr>
            </a:pPr>
            <a:r>
              <a:t>DunCarBox</a:t>
            </a:r>
          </a:p>
        </p:txBody>
      </p:sp>
      <p:sp>
        <p:nvSpPr>
          <p:cNvPr id="5" name="TextBox 4"/>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B1C2CA"/>
                </a:solidFill>
                <a:latin typeface="Segoe UI"/>
              </a:defRPr>
            </a:pPr>
            <a:r>
              <a:t>ХАКАТОН / 2026</a:t>
            </a:r>
          </a:p>
        </p:txBody>
      </p:sp>
      <p:sp>
        <p:nvSpPr>
          <p:cNvPr id="6" name="TextBox 5"/>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B1C2CA"/>
                </a:solidFill>
                <a:latin typeface="Segoe UI"/>
              </a:defRPr>
            </a:pPr>
            <a:r>
              <a:t>01</a:t>
            </a:r>
          </a:p>
        </p:txBody>
      </p:sp>
      <p:sp>
        <p:nvSpPr>
          <p:cNvPr id="7" name="Rounded Rectangle 6"/>
          <p:cNvSpPr/>
          <p:nvPr/>
        </p:nvSpPr>
        <p:spPr>
          <a:xfrm>
            <a:off x="548640" y="960120"/>
            <a:ext cx="3886200" cy="320040"/>
          </a:xfrm>
          <a:prstGeom prst="roundRect">
            <a:avLst>
              <a:gd name="adj" fmla="val 12000"/>
            </a:avLst>
          </a:prstGeom>
          <a:solidFill>
            <a:srgbClr val="2545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992124"/>
            <a:ext cx="3703320" cy="237744"/>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A7E4DA"/>
                </a:solidFill>
                <a:latin typeface="Segoe UI"/>
              </a:defRPr>
            </a:pPr>
            <a:r>
              <a:t>ИНТЕЛЛЕКТУАЛЬНАЯ УПАКОВКА ЗАКАЗОВ</a:t>
            </a:r>
          </a:p>
        </p:txBody>
      </p:sp>
      <p:sp>
        <p:nvSpPr>
          <p:cNvPr id="9" name="TextBox 8"/>
          <p:cNvSpPr txBox="1"/>
          <p:nvPr/>
        </p:nvSpPr>
        <p:spPr>
          <a:xfrm>
            <a:off x="548640" y="1591056"/>
            <a:ext cx="6766560" cy="822960"/>
          </a:xfrm>
          <a:prstGeom prst="rect">
            <a:avLst/>
          </a:prstGeom>
          <a:noFill/>
        </p:spPr>
        <p:txBody>
          <a:bodyPr wrap="square" lIns="0" rIns="0" tIns="0" bIns="0" anchor="t">
            <a:spAutoFit/>
          </a:bodyPr>
          <a:lstStyle/>
          <a:p>
            <a:pPr algn="l">
              <a:lnSpc>
                <a:spcPct val="112000"/>
              </a:lnSpc>
              <a:spcBef>
                <a:spcPts val="0"/>
              </a:spcBef>
              <a:spcAft>
                <a:spcPts val="0"/>
              </a:spcAft>
              <a:defRPr sz="5700" b="1">
                <a:solidFill>
                  <a:srgbClr val="FFFFFF"/>
                </a:solidFill>
                <a:latin typeface="Segoe UI"/>
              </a:defRPr>
            </a:pPr>
            <a:r>
              <a:t>DunCarBox</a:t>
            </a:r>
          </a:p>
        </p:txBody>
      </p:sp>
      <p:sp>
        <p:nvSpPr>
          <p:cNvPr id="10" name="TextBox 9"/>
          <p:cNvSpPr txBox="1"/>
          <p:nvPr/>
        </p:nvSpPr>
        <p:spPr>
          <a:xfrm>
            <a:off x="594360" y="2724912"/>
            <a:ext cx="6675120" cy="1444752"/>
          </a:xfrm>
          <a:prstGeom prst="rect">
            <a:avLst/>
          </a:prstGeom>
          <a:noFill/>
        </p:spPr>
        <p:txBody>
          <a:bodyPr wrap="square" lIns="0" rIns="0" tIns="0" bIns="0" anchor="t">
            <a:spAutoFit/>
          </a:bodyPr>
          <a:lstStyle/>
          <a:p>
            <a:pPr algn="l">
              <a:lnSpc>
                <a:spcPct val="112000"/>
              </a:lnSpc>
              <a:spcBef>
                <a:spcPts val="0"/>
              </a:spcBef>
              <a:spcAft>
                <a:spcPts val="0"/>
              </a:spcAft>
              <a:defRPr sz="3300" b="1">
                <a:solidFill>
                  <a:srgbClr val="FFFFFF"/>
                </a:solidFill>
                <a:latin typeface="Segoe UI"/>
              </a:defRPr>
            </a:pPr>
            <a:r>
              <a:t>От заказа — к понятной</a:t>
            </a:r>
          </a:p>
          <a:p>
            <a:pPr algn="l">
              <a:lnSpc>
                <a:spcPct val="112000"/>
              </a:lnSpc>
              <a:spcBef>
                <a:spcPts val="0"/>
              </a:spcBef>
              <a:spcAft>
                <a:spcPts val="0"/>
              </a:spcAft>
              <a:defRPr sz="3300" b="1">
                <a:solidFill>
                  <a:srgbClr val="FFFFFF"/>
                </a:solidFill>
                <a:latin typeface="Segoe UI"/>
              </a:defRPr>
            </a:pPr>
            <a:r>
              <a:t>укладке в коробки</a:t>
            </a:r>
          </a:p>
        </p:txBody>
      </p:sp>
      <p:sp>
        <p:nvSpPr>
          <p:cNvPr id="11" name="TextBox 10"/>
          <p:cNvSpPr txBox="1"/>
          <p:nvPr/>
        </p:nvSpPr>
        <p:spPr>
          <a:xfrm>
            <a:off x="603504" y="4553712"/>
            <a:ext cx="6400800" cy="804672"/>
          </a:xfrm>
          <a:prstGeom prst="rect">
            <a:avLst/>
          </a:prstGeom>
          <a:noFill/>
        </p:spPr>
        <p:txBody>
          <a:bodyPr wrap="square" lIns="0" rIns="0" tIns="0" bIns="0" anchor="t">
            <a:spAutoFit/>
          </a:bodyPr>
          <a:lstStyle/>
          <a:p>
            <a:pPr algn="l">
              <a:lnSpc>
                <a:spcPct val="112000"/>
              </a:lnSpc>
              <a:spcBef>
                <a:spcPts val="0"/>
              </a:spcBef>
              <a:spcAft>
                <a:spcPts val="0"/>
              </a:spcAft>
              <a:defRPr sz="2000" b="0">
                <a:solidFill>
                  <a:srgbClr val="B1C2CA"/>
                </a:solidFill>
                <a:latin typeface="Segoe UI"/>
              </a:defRPr>
            </a:pPr>
            <a:r>
              <a:t>Подобрать коробки. Разместить товары.</a:t>
            </a:r>
          </a:p>
          <a:p>
            <a:pPr algn="l">
              <a:lnSpc>
                <a:spcPct val="112000"/>
              </a:lnSpc>
              <a:spcBef>
                <a:spcPts val="0"/>
              </a:spcBef>
              <a:spcAft>
                <a:spcPts val="0"/>
              </a:spcAft>
              <a:defRPr sz="2000" b="0">
                <a:solidFill>
                  <a:srgbClr val="B1C2CA"/>
                </a:solidFill>
                <a:latin typeface="Segoe UI"/>
              </a:defRPr>
            </a:pPr>
            <a:r>
              <a:t>Показать каждый шаг сборки.</a:t>
            </a:r>
          </a:p>
        </p:txBody>
      </p:sp>
      <p:sp>
        <p:nvSpPr>
          <p:cNvPr id="12" name="Freeform 11"/>
          <p:cNvSpPr/>
          <p:nvPr/>
        </p:nvSpPr>
        <p:spPr>
          <a:xfrm>
            <a:off x="8229600" y="3657600"/>
            <a:ext cx="1828800" cy="1828800"/>
          </a:xfrm>
          <a:custGeom>
            <a:avLst/>
            <a:gdLst/>
            <a:ahLst/>
            <a:cxnLst/>
            <a:rect l="l" t="t" r="r" b="b"/>
            <a:pathLst>
              <a:path w="2" h="2">
                <a:moveTo>
                  <a:pt x="0" y="1"/>
                </a:moveTo>
                <a:lnTo>
                  <a:pt x="2" y="2"/>
                </a:lnTo>
                <a:lnTo>
                  <a:pt x="2" y="1"/>
                </a:lnTo>
                <a:lnTo>
                  <a:pt x="0" y="0"/>
                </a:lnTo>
                <a:close/>
              </a:path>
            </a:pathLst>
          </a:custGeom>
          <a:solidFill>
            <a:srgbClr val="416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4000" y="4572000"/>
            <a:ext cx="914400" cy="914400"/>
          </a:xfrm>
          <a:custGeom>
            <a:avLst/>
            <a:gdLst/>
            <a:ahLst/>
            <a:cxnLst/>
            <a:rect l="l" t="t" r="r" b="b"/>
            <a:pathLst>
              <a:path w="1" h="1">
                <a:moveTo>
                  <a:pt x="1" y="1"/>
                </a:moveTo>
                <a:lnTo>
                  <a:pt x="0" y="1"/>
                </a:lnTo>
                <a:lnTo>
                  <a:pt x="0" y="1"/>
                </a:lnTo>
                <a:lnTo>
                  <a:pt x="1" y="0"/>
                </a:lnTo>
                <a:close/>
              </a:path>
            </a:pathLst>
          </a:custGeom>
          <a:solidFill>
            <a:srgbClr val="304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7315200" y="3657600"/>
            <a:ext cx="2743200" cy="1828800"/>
          </a:xfrm>
          <a:custGeom>
            <a:avLst/>
            <a:gdLst/>
            <a:ahLst/>
            <a:cxnLst/>
            <a:rect l="l" t="t" r="r" b="b"/>
            <a:pathLst>
              <a:path w="3" h="2">
                <a:moveTo>
                  <a:pt x="1" y="0"/>
                </a:moveTo>
                <a:lnTo>
                  <a:pt x="3" y="1"/>
                </a:lnTo>
                <a:lnTo>
                  <a:pt x="2" y="2"/>
                </a:lnTo>
                <a:lnTo>
                  <a:pt x="0" y="1"/>
                </a:lnTo>
                <a:close/>
              </a:path>
            </a:pathLst>
          </a:custGeom>
          <a:solidFill>
            <a:srgbClr val="587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9144000" y="2743200"/>
            <a:ext cx="0" cy="1828800"/>
          </a:xfrm>
          <a:custGeom>
            <a:avLst/>
            <a:gdLst/>
            <a:ahLst/>
            <a:cxnLst/>
            <a:rect l="l" t="t" r="r" b="b"/>
            <a:pathLst>
              <a:path w="0" h="2">
                <a:moveTo>
                  <a:pt x="0" y="1"/>
                </a:moveTo>
                <a:lnTo>
                  <a:pt x="0" y="2"/>
                </a:lnTo>
                <a:lnTo>
                  <a:pt x="0" y="0"/>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9144000" y="2743200"/>
            <a:ext cx="0" cy="1828800"/>
          </a:xfrm>
          <a:custGeom>
            <a:avLst/>
            <a:gdLst/>
            <a:ahLst/>
            <a:cxnLst/>
            <a:rect l="l" t="t" r="r" b="b"/>
            <a:pathLst>
              <a:path w="0" h="2">
                <a:moveTo>
                  <a:pt x="0" y="2"/>
                </a:moveTo>
                <a:lnTo>
                  <a:pt x="0" y="2"/>
                </a:lnTo>
                <a:lnTo>
                  <a:pt x="0" y="1"/>
                </a:lnTo>
                <a:lnTo>
                  <a:pt x="0" y="0"/>
                </a:lnTo>
                <a:close/>
              </a:path>
            </a:pathLst>
          </a:custGeom>
          <a:solidFill>
            <a:srgbClr val="066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8229600" y="2743200"/>
            <a:ext cx="914400" cy="914400"/>
          </a:xfrm>
          <a:custGeom>
            <a:avLst/>
            <a:gdLst/>
            <a:ahLst/>
            <a:cxnLst/>
            <a:rect l="l" t="t" r="r" b="b"/>
            <a:pathLst>
              <a:path w="1" h="1">
                <a:moveTo>
                  <a:pt x="1" y="0"/>
                </a:moveTo>
                <a:lnTo>
                  <a:pt x="1" y="0"/>
                </a:lnTo>
                <a:lnTo>
                  <a:pt x="1" y="1"/>
                </a:lnTo>
                <a:lnTo>
                  <a:pt x="0" y="0"/>
                </a:lnTo>
                <a:close/>
              </a:path>
            </a:pathLst>
          </a:custGeom>
          <a:solidFill>
            <a:srgbClr val="A7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0058400" y="3657600"/>
            <a:ext cx="0" cy="914400"/>
          </a:xfrm>
          <a:custGeom>
            <a:avLst/>
            <a:gdLst/>
            <a:ahLst/>
            <a:cxnLst/>
            <a:rect l="l" t="t" r="r" b="b"/>
            <a:pathLst>
              <a:path w="0" h="1">
                <a:moveTo>
                  <a:pt x="0" y="1"/>
                </a:moveTo>
                <a:lnTo>
                  <a:pt x="0" y="1"/>
                </a:lnTo>
                <a:lnTo>
                  <a:pt x="0" y="0"/>
                </a:lnTo>
                <a:lnTo>
                  <a:pt x="0" y="0"/>
                </a:lnTo>
                <a:close/>
              </a:path>
            </a:pathLst>
          </a:cu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9144000" y="3657600"/>
            <a:ext cx="914400" cy="914400"/>
          </a:xfrm>
          <a:custGeom>
            <a:avLst/>
            <a:gdLst/>
            <a:ahLst/>
            <a:cxnLst/>
            <a:rect l="l" t="t" r="r" b="b"/>
            <a:pathLst>
              <a:path w="1" h="1">
                <a:moveTo>
                  <a:pt x="1" y="1"/>
                </a:moveTo>
                <a:lnTo>
                  <a:pt x="0" y="1"/>
                </a:lnTo>
                <a:lnTo>
                  <a:pt x="0" y="1"/>
                </a:lnTo>
                <a:lnTo>
                  <a:pt x="1" y="0"/>
                </a:lnTo>
                <a:close/>
              </a:path>
            </a:pathLst>
          </a:custGeom>
          <a:solidFill>
            <a:srgbClr val="C65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9144000" y="3657600"/>
            <a:ext cx="914400" cy="914400"/>
          </a:xfrm>
          <a:custGeom>
            <a:avLst/>
            <a:gdLst/>
            <a:ahLst/>
            <a:cxnLst/>
            <a:rect l="l" t="t" r="r" b="b"/>
            <a:pathLst>
              <a:path w="1" h="1">
                <a:moveTo>
                  <a:pt x="1" y="0"/>
                </a:moveTo>
                <a:lnTo>
                  <a:pt x="1" y="0"/>
                </a:lnTo>
                <a:lnTo>
                  <a:pt x="0" y="1"/>
                </a:lnTo>
                <a:lnTo>
                  <a:pt x="0" y="0"/>
                </a:lnTo>
                <a:close/>
              </a:path>
            </a:pathLst>
          </a:custGeom>
          <a:solidFill>
            <a:srgbClr val="F6A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8229600" y="4572000"/>
            <a:ext cx="914400" cy="0"/>
          </a:xfrm>
          <a:custGeom>
            <a:avLst/>
            <a:gdLst/>
            <a:ahLst/>
            <a:cxnLst/>
            <a:rect l="l" t="t" r="r" b="b"/>
            <a:pathLst>
              <a:path w="1" h="0">
                <a:moveTo>
                  <a:pt x="0" y="0"/>
                </a:moveTo>
                <a:lnTo>
                  <a:pt x="1" y="0"/>
                </a:lnTo>
                <a:lnTo>
                  <a:pt x="1" y="0"/>
                </a:lnTo>
                <a:lnTo>
                  <a:pt x="0" y="0"/>
                </a:lnTo>
                <a:close/>
              </a:path>
            </a:pathLst>
          </a:custGeom>
          <a:solidFill>
            <a:srgbClr val="EAB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9144000" y="4572000"/>
            <a:ext cx="0" cy="914400"/>
          </a:xfrm>
          <a:custGeom>
            <a:avLst/>
            <a:gdLst/>
            <a:ahLst/>
            <a:cxnLst/>
            <a:rect l="l" t="t" r="r" b="b"/>
            <a:pathLst>
              <a:path w="0" h="1">
                <a:moveTo>
                  <a:pt x="0" y="0"/>
                </a:moveTo>
                <a:lnTo>
                  <a:pt x="0" y="1"/>
                </a:lnTo>
                <a:lnTo>
                  <a:pt x="0" y="0"/>
                </a:lnTo>
                <a:lnTo>
                  <a:pt x="0" y="0"/>
                </a:lnTo>
                <a:close/>
              </a:path>
            </a:pathLst>
          </a:custGeom>
          <a:solidFill>
            <a:srgbClr val="C48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8229600" y="4572000"/>
            <a:ext cx="914400" cy="0"/>
          </a:xfrm>
          <a:custGeom>
            <a:avLst/>
            <a:gdLst/>
            <a:ahLst/>
            <a:cxnLst/>
            <a:rect l="l" t="t" r="r" b="b"/>
            <a:pathLst>
              <a:path w="1" h="0">
                <a:moveTo>
                  <a:pt x="0" y="0"/>
                </a:moveTo>
                <a:lnTo>
                  <a:pt x="1" y="0"/>
                </a:lnTo>
                <a:lnTo>
                  <a:pt x="1" y="0"/>
                </a:lnTo>
                <a:lnTo>
                  <a:pt x="0" y="0"/>
                </a:lnTo>
                <a:close/>
              </a:path>
            </a:pathLst>
          </a:custGeom>
          <a:solidFill>
            <a:srgbClr val="F5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0" y="5650992"/>
            <a:ext cx="4297680" cy="274320"/>
          </a:xfrm>
          <a:prstGeom prst="rect">
            <a:avLst/>
          </a:prstGeom>
          <a:noFill/>
        </p:spPr>
        <p:txBody>
          <a:bodyPr wrap="square" lIns="0" rIns="0" tIns="0" bIns="0" anchor="t">
            <a:spAutoFit/>
          </a:bodyPr>
          <a:lstStyle/>
          <a:p>
            <a:pPr algn="ctr">
              <a:lnSpc>
                <a:spcPct val="112000"/>
              </a:lnSpc>
              <a:spcBef>
                <a:spcPts val="0"/>
              </a:spcBef>
              <a:spcAft>
                <a:spcPts val="0"/>
              </a:spcAft>
              <a:defRPr sz="1100" b="1">
                <a:solidFill>
                  <a:srgbClr val="A7E4DA"/>
                </a:solidFill>
                <a:latin typeface="Segoe UI"/>
              </a:defRPr>
            </a:pPr>
            <a:r>
              <a:t>ГЕОМЕТРИЯ → ПЛАН → ИНСТРУКЦИЯ</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5"/>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02 / ЗАДАЧА СКЛАДА</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183342"/>
                </a:solidFill>
                <a:latin typeface="Segoe UI"/>
              </a:defRPr>
            </a:pPr>
            <a:r>
              <a:t>Коробку мало выбрать.</a:t>
            </a:r>
          </a:p>
          <a:p>
            <a:pPr algn="l">
              <a:lnSpc>
                <a:spcPct val="106000"/>
              </a:lnSpc>
              <a:spcBef>
                <a:spcPts val="0"/>
              </a:spcBef>
              <a:spcAft>
                <a:spcPts val="0"/>
              </a:spcAft>
              <a:defRPr sz="3300" b="1">
                <a:solidFill>
                  <a:srgbClr val="183342"/>
                </a:solidFill>
                <a:latin typeface="Segoe UI"/>
              </a:defRPr>
            </a:pPr>
            <a:r>
              <a:t>Нужно объяснить, как уложить.</a:t>
            </a:r>
          </a:p>
        </p:txBody>
      </p:sp>
      <p:sp>
        <p:nvSpPr>
          <p:cNvPr id="4" name="TextBox 3"/>
          <p:cNvSpPr txBox="1"/>
          <p:nvPr/>
        </p:nvSpPr>
        <p:spPr>
          <a:xfrm>
            <a:off x="548640" y="1947672"/>
            <a:ext cx="10972800" cy="512064"/>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61727C"/>
                </a:solidFill>
                <a:latin typeface="Segoe UI"/>
              </a:defRPr>
            </a:pPr>
            <a:r>
              <a:t>При сборке одного заказа оператор решает несколько связанных задач.</a:t>
            </a:r>
          </a:p>
        </p:txBody>
      </p:sp>
      <p:cxnSp>
        <p:nvCxnSpPr>
          <p:cNvPr id="5" name="Connector 4"/>
          <p:cNvCxnSpPr/>
          <p:nvPr/>
        </p:nvCxnSpPr>
        <p:spPr>
          <a:xfrm>
            <a:off x="548640" y="6473952"/>
            <a:ext cx="11091672" cy="0"/>
          </a:xfrm>
          <a:prstGeom prst="line">
            <a:avLst/>
          </a:prstGeom>
          <a:ln w="8890">
            <a:solidFill>
              <a:srgbClr val="DCE5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61727C"/>
                </a:solidFill>
                <a:latin typeface="Segoe UI"/>
              </a:defRPr>
            </a:pPr>
            <a:r>
              <a:t>DunCarBox</a:t>
            </a:r>
          </a:p>
        </p:txBody>
      </p:sp>
      <p:sp>
        <p:nvSpPr>
          <p:cNvPr id="7" name="TextBox 6"/>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61727C"/>
                </a:solidFill>
                <a:latin typeface="Segoe UI"/>
              </a:defRPr>
            </a:pPr>
            <a:r>
              <a:t>ХАКАТОН / 2026</a:t>
            </a:r>
          </a:p>
        </p:txBody>
      </p:sp>
      <p:sp>
        <p:nvSpPr>
          <p:cNvPr id="8" name="TextBox 7"/>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61727C"/>
                </a:solidFill>
                <a:latin typeface="Segoe UI"/>
              </a:defRPr>
            </a:pPr>
            <a:r>
              <a:t>02</a:t>
            </a:r>
          </a:p>
        </p:txBody>
      </p:sp>
      <p:sp>
        <p:nvSpPr>
          <p:cNvPr id="9" name="Rounded Rectangle 8"/>
          <p:cNvSpPr/>
          <p:nvPr/>
        </p:nvSpPr>
        <p:spPr>
          <a:xfrm>
            <a:off x="548640" y="2743200"/>
            <a:ext cx="3529584" cy="26334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743200"/>
            <a:ext cx="50292" cy="26334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944368"/>
            <a:ext cx="3026663" cy="457200"/>
          </a:xfrm>
          <a:prstGeom prst="rect">
            <a:avLst/>
          </a:prstGeom>
          <a:noFill/>
        </p:spPr>
        <p:txBody>
          <a:bodyPr wrap="square" lIns="0" rIns="0" tIns="0" bIns="0" anchor="t">
            <a:spAutoFit/>
          </a:bodyPr>
          <a:lstStyle/>
          <a:p>
            <a:pPr algn="l">
              <a:lnSpc>
                <a:spcPct val="112000"/>
              </a:lnSpc>
              <a:spcBef>
                <a:spcPts val="0"/>
              </a:spcBef>
              <a:spcAft>
                <a:spcPts val="0"/>
              </a:spcAft>
              <a:defRPr sz="3200" b="1">
                <a:solidFill>
                  <a:srgbClr val="087F8C"/>
                </a:solidFill>
                <a:latin typeface="Segoe UI"/>
              </a:defRPr>
            </a:pPr>
            <a:r>
              <a:t>01</a:t>
            </a:r>
          </a:p>
        </p:txBody>
      </p:sp>
      <p:sp>
        <p:nvSpPr>
          <p:cNvPr id="12" name="TextBox 11"/>
          <p:cNvSpPr txBox="1"/>
          <p:nvPr/>
        </p:nvSpPr>
        <p:spPr>
          <a:xfrm>
            <a:off x="804672" y="3611880"/>
            <a:ext cx="3026663"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Что взять?</a:t>
            </a:r>
          </a:p>
        </p:txBody>
      </p:sp>
      <p:sp>
        <p:nvSpPr>
          <p:cNvPr id="13" name="TextBox 12"/>
          <p:cNvSpPr txBox="1"/>
          <p:nvPr/>
        </p:nvSpPr>
        <p:spPr>
          <a:xfrm>
            <a:off x="804672" y="4361688"/>
            <a:ext cx="3026663" cy="886968"/>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Внутренние размеры коробок,</a:t>
            </a:r>
          </a:p>
          <a:p>
            <a:pPr algn="l">
              <a:lnSpc>
                <a:spcPct val="112000"/>
              </a:lnSpc>
              <a:spcBef>
                <a:spcPts val="0"/>
              </a:spcBef>
              <a:spcAft>
                <a:spcPts val="0"/>
              </a:spcAft>
              <a:defRPr sz="1600" b="0">
                <a:solidFill>
                  <a:srgbClr val="61727C"/>
                </a:solidFill>
                <a:latin typeface="Segoe UI"/>
              </a:defRPr>
            </a:pPr>
            <a:r>
              <a:t>допустимый вес и остаток.</a:t>
            </a:r>
          </a:p>
        </p:txBody>
      </p:sp>
      <p:sp>
        <p:nvSpPr>
          <p:cNvPr id="14" name="Rounded Rectangle 13"/>
          <p:cNvSpPr/>
          <p:nvPr/>
        </p:nvSpPr>
        <p:spPr>
          <a:xfrm>
            <a:off x="4325112" y="2743200"/>
            <a:ext cx="3529584" cy="26334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5112" y="2743200"/>
            <a:ext cx="50292" cy="2633472"/>
          </a:xfrm>
          <a:prstGeom prst="rect">
            <a:avLst/>
          </a:pr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144" y="2944368"/>
            <a:ext cx="3026663" cy="457200"/>
          </a:xfrm>
          <a:prstGeom prst="rect">
            <a:avLst/>
          </a:prstGeom>
          <a:noFill/>
        </p:spPr>
        <p:txBody>
          <a:bodyPr wrap="square" lIns="0" rIns="0" tIns="0" bIns="0" anchor="t">
            <a:spAutoFit/>
          </a:bodyPr>
          <a:lstStyle/>
          <a:p>
            <a:pPr algn="l">
              <a:lnSpc>
                <a:spcPct val="112000"/>
              </a:lnSpc>
              <a:spcBef>
                <a:spcPts val="0"/>
              </a:spcBef>
              <a:spcAft>
                <a:spcPts val="0"/>
              </a:spcAft>
              <a:defRPr sz="3200" b="1">
                <a:solidFill>
                  <a:srgbClr val="EF765C"/>
                </a:solidFill>
                <a:latin typeface="Segoe UI"/>
              </a:defRPr>
            </a:pPr>
            <a:r>
              <a:t>02</a:t>
            </a:r>
          </a:p>
        </p:txBody>
      </p:sp>
      <p:sp>
        <p:nvSpPr>
          <p:cNvPr id="17" name="TextBox 16"/>
          <p:cNvSpPr txBox="1"/>
          <p:nvPr/>
        </p:nvSpPr>
        <p:spPr>
          <a:xfrm>
            <a:off x="4581144" y="3611880"/>
            <a:ext cx="3026663"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Как уложить?</a:t>
            </a:r>
          </a:p>
        </p:txBody>
      </p:sp>
      <p:sp>
        <p:nvSpPr>
          <p:cNvPr id="18" name="TextBox 17"/>
          <p:cNvSpPr txBox="1"/>
          <p:nvPr/>
        </p:nvSpPr>
        <p:spPr>
          <a:xfrm>
            <a:off x="4581144" y="4361688"/>
            <a:ext cx="3026663" cy="886968"/>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Габариты, повороты, опора</a:t>
            </a:r>
          </a:p>
          <a:p>
            <a:pPr algn="l">
              <a:lnSpc>
                <a:spcPct val="112000"/>
              </a:lnSpc>
              <a:spcBef>
                <a:spcPts val="0"/>
              </a:spcBef>
              <a:spcAft>
                <a:spcPts val="0"/>
              </a:spcAft>
              <a:defRPr sz="1600" b="0">
                <a:solidFill>
                  <a:srgbClr val="61727C"/>
                </a:solidFill>
                <a:latin typeface="Segoe UI"/>
              </a:defRPr>
            </a:pPr>
            <a:r>
              <a:t>и порядок размещения.</a:t>
            </a:r>
          </a:p>
        </p:txBody>
      </p:sp>
      <p:sp>
        <p:nvSpPr>
          <p:cNvPr id="19" name="Rounded Rectangle 18"/>
          <p:cNvSpPr/>
          <p:nvPr/>
        </p:nvSpPr>
        <p:spPr>
          <a:xfrm>
            <a:off x="8110727" y="2743200"/>
            <a:ext cx="3529584" cy="26334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0727" y="2743200"/>
            <a:ext cx="50292" cy="26334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59" y="2944368"/>
            <a:ext cx="3026663" cy="457200"/>
          </a:xfrm>
          <a:prstGeom prst="rect">
            <a:avLst/>
          </a:prstGeom>
          <a:noFill/>
        </p:spPr>
        <p:txBody>
          <a:bodyPr wrap="square" lIns="0" rIns="0" tIns="0" bIns="0" anchor="t">
            <a:spAutoFit/>
          </a:bodyPr>
          <a:lstStyle/>
          <a:p>
            <a:pPr algn="l">
              <a:lnSpc>
                <a:spcPct val="112000"/>
              </a:lnSpc>
              <a:spcBef>
                <a:spcPts val="0"/>
              </a:spcBef>
              <a:spcAft>
                <a:spcPts val="0"/>
              </a:spcAft>
              <a:defRPr sz="3200" b="1">
                <a:solidFill>
                  <a:srgbClr val="087F8C"/>
                </a:solidFill>
                <a:latin typeface="Segoe UI"/>
              </a:defRPr>
            </a:pPr>
            <a:r>
              <a:t>03</a:t>
            </a:r>
          </a:p>
        </p:txBody>
      </p:sp>
      <p:sp>
        <p:nvSpPr>
          <p:cNvPr id="22" name="TextBox 21"/>
          <p:cNvSpPr txBox="1"/>
          <p:nvPr/>
        </p:nvSpPr>
        <p:spPr>
          <a:xfrm>
            <a:off x="8366759" y="3611880"/>
            <a:ext cx="3026663"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Что не вошло?</a:t>
            </a:r>
          </a:p>
        </p:txBody>
      </p:sp>
      <p:sp>
        <p:nvSpPr>
          <p:cNvPr id="23" name="TextBox 22"/>
          <p:cNvSpPr txBox="1"/>
          <p:nvPr/>
        </p:nvSpPr>
        <p:spPr>
          <a:xfrm>
            <a:off x="8366759" y="4361688"/>
            <a:ext cx="3026663" cy="886968"/>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Сохранить готовую часть</a:t>
            </a:r>
          </a:p>
          <a:p>
            <a:pPr algn="l">
              <a:lnSpc>
                <a:spcPct val="112000"/>
              </a:lnSpc>
              <a:spcBef>
                <a:spcPts val="0"/>
              </a:spcBef>
              <a:spcAft>
                <a:spcPts val="0"/>
              </a:spcAft>
              <a:defRPr sz="1600" b="0">
                <a:solidFill>
                  <a:srgbClr val="61727C"/>
                </a:solidFill>
                <a:latin typeface="Segoe UI"/>
              </a:defRPr>
            </a:pPr>
            <a:r>
              <a:t>и объяснить остаток.</a:t>
            </a:r>
          </a:p>
        </p:txBody>
      </p:sp>
      <p:sp>
        <p:nvSpPr>
          <p:cNvPr id="24" name="Rounded Rectangle 23"/>
          <p:cNvSpPr/>
          <p:nvPr/>
        </p:nvSpPr>
        <p:spPr>
          <a:xfrm>
            <a:off x="548640" y="5614416"/>
            <a:ext cx="11091672" cy="557784"/>
          </a:xfrm>
          <a:prstGeom prst="roundRect">
            <a:avLst>
              <a:gd name="adj" fmla="val 12000"/>
            </a:avLst>
          </a:prstGeom>
          <a:solidFill>
            <a:srgbClr val="E4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5733288"/>
            <a:ext cx="10588752" cy="301752"/>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087F8C"/>
                </a:solidFill>
                <a:latin typeface="Segoe UI"/>
              </a:defRPr>
            </a:pPr>
            <a:r>
              <a:t>Цель: сделать решение воспроизводимым и удобным для выполнения.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5"/>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03 / СЦЕНАРИЙ</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183342"/>
                </a:solidFill>
                <a:latin typeface="Segoe UI"/>
              </a:defRPr>
            </a:pPr>
            <a:r>
              <a:t>Один путь от заказа до готовой коробки</a:t>
            </a:r>
          </a:p>
        </p:txBody>
      </p:sp>
      <p:sp>
        <p:nvSpPr>
          <p:cNvPr id="4" name="TextBox 3"/>
          <p:cNvSpPr txBox="1"/>
          <p:nvPr/>
        </p:nvSpPr>
        <p:spPr>
          <a:xfrm>
            <a:off x="548640" y="1947672"/>
            <a:ext cx="10972800" cy="512064"/>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61727C"/>
                </a:solidFill>
                <a:latin typeface="Segoe UI"/>
              </a:defRPr>
            </a:pPr>
            <a:r>
              <a:t>Заказ и складские ограничения остаются связаны с каждым шагом результата.</a:t>
            </a:r>
          </a:p>
        </p:txBody>
      </p:sp>
      <p:cxnSp>
        <p:nvCxnSpPr>
          <p:cNvPr id="5" name="Connector 4"/>
          <p:cNvCxnSpPr/>
          <p:nvPr/>
        </p:nvCxnSpPr>
        <p:spPr>
          <a:xfrm>
            <a:off x="548640" y="6473952"/>
            <a:ext cx="11091672" cy="0"/>
          </a:xfrm>
          <a:prstGeom prst="line">
            <a:avLst/>
          </a:prstGeom>
          <a:ln w="8890">
            <a:solidFill>
              <a:srgbClr val="DCE5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61727C"/>
                </a:solidFill>
                <a:latin typeface="Segoe UI"/>
              </a:defRPr>
            </a:pPr>
            <a:r>
              <a:t>DunCarBox</a:t>
            </a:r>
          </a:p>
        </p:txBody>
      </p:sp>
      <p:sp>
        <p:nvSpPr>
          <p:cNvPr id="7" name="TextBox 6"/>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61727C"/>
                </a:solidFill>
                <a:latin typeface="Segoe UI"/>
              </a:defRPr>
            </a:pPr>
            <a:r>
              <a:t>ХАКАТОН / 2026</a:t>
            </a:r>
          </a:p>
        </p:txBody>
      </p:sp>
      <p:sp>
        <p:nvSpPr>
          <p:cNvPr id="8" name="TextBox 7"/>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61727C"/>
                </a:solidFill>
                <a:latin typeface="Segoe UI"/>
              </a:defRPr>
            </a:pPr>
            <a:r>
              <a:t>03</a:t>
            </a:r>
          </a:p>
        </p:txBody>
      </p:sp>
      <p:sp>
        <p:nvSpPr>
          <p:cNvPr id="9" name="Rounded Rectangle 8"/>
          <p:cNvSpPr/>
          <p:nvPr/>
        </p:nvSpPr>
        <p:spPr>
          <a:xfrm>
            <a:off x="548640" y="2670048"/>
            <a:ext cx="2615184" cy="21762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70048"/>
            <a:ext cx="50292" cy="21762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926080"/>
            <a:ext cx="2112263"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Заказ</a:t>
            </a:r>
          </a:p>
        </p:txBody>
      </p:sp>
      <p:sp>
        <p:nvSpPr>
          <p:cNvPr id="12" name="TextBox 11"/>
          <p:cNvSpPr txBox="1"/>
          <p:nvPr/>
        </p:nvSpPr>
        <p:spPr>
          <a:xfrm>
            <a:off x="804672" y="3675888"/>
            <a:ext cx="2112263" cy="1042415"/>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Товары, количество,</a:t>
            </a:r>
          </a:p>
          <a:p>
            <a:pPr algn="l">
              <a:lnSpc>
                <a:spcPct val="112000"/>
              </a:lnSpc>
              <a:spcBef>
                <a:spcPts val="0"/>
              </a:spcBef>
              <a:spcAft>
                <a:spcPts val="0"/>
              </a:spcAft>
              <a:defRPr sz="1600" b="0">
                <a:solidFill>
                  <a:srgbClr val="61727C"/>
                </a:solidFill>
                <a:latin typeface="Segoe UI"/>
              </a:defRPr>
            </a:pPr>
            <a:r>
              <a:t>размеры и вес</a:t>
            </a:r>
          </a:p>
        </p:txBody>
      </p:sp>
      <p:sp>
        <p:nvSpPr>
          <p:cNvPr id="13" name="Freeform 12"/>
          <p:cNvSpPr/>
          <p:nvPr/>
        </p:nvSpPr>
        <p:spPr>
          <a:xfrm>
            <a:off x="3657600" y="3657600"/>
            <a:ext cx="0" cy="0"/>
          </a:xfrm>
          <a:custGeom>
            <a:avLst/>
            <a:gdLst/>
            <a:ahLst/>
            <a:cxnLst/>
            <a:rect l="l" t="t" r="r" b="b"/>
            <a:pathLst>
              <a:path w="0" h="0">
                <a:moveTo>
                  <a:pt x="0" y="0"/>
                </a:moveTo>
                <a:lnTo>
                  <a:pt x="0" y="0"/>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64992" y="2670048"/>
            <a:ext cx="2615184" cy="21762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2670048"/>
            <a:ext cx="50292" cy="21762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2926080"/>
            <a:ext cx="2112263"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Расчёт</a:t>
            </a:r>
          </a:p>
        </p:txBody>
      </p:sp>
      <p:sp>
        <p:nvSpPr>
          <p:cNvPr id="17" name="TextBox 16"/>
          <p:cNvSpPr txBox="1"/>
          <p:nvPr/>
        </p:nvSpPr>
        <p:spPr>
          <a:xfrm>
            <a:off x="3621024" y="3675888"/>
            <a:ext cx="2112263" cy="1042415"/>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Эвристика или Z3;</a:t>
            </a:r>
          </a:p>
          <a:p>
            <a:pPr algn="l">
              <a:lnSpc>
                <a:spcPct val="112000"/>
              </a:lnSpc>
              <a:spcBef>
                <a:spcPts val="0"/>
              </a:spcBef>
              <a:spcAft>
                <a:spcPts val="0"/>
              </a:spcAft>
              <a:defRPr sz="1600" b="0">
                <a:solidFill>
                  <a:srgbClr val="61727C"/>
                </a:solidFill>
                <a:latin typeface="Segoe UI"/>
              </a:defRPr>
            </a:pPr>
            <a:r>
              <a:t>прогресс и отмена</a:t>
            </a:r>
          </a:p>
        </p:txBody>
      </p:sp>
      <p:sp>
        <p:nvSpPr>
          <p:cNvPr id="18" name="Freeform 17"/>
          <p:cNvSpPr/>
          <p:nvPr/>
        </p:nvSpPr>
        <p:spPr>
          <a:xfrm>
            <a:off x="6400800" y="3657600"/>
            <a:ext cx="0" cy="0"/>
          </a:xfrm>
          <a:custGeom>
            <a:avLst/>
            <a:gdLst/>
            <a:ahLst/>
            <a:cxnLst/>
            <a:rect l="l" t="t" r="r" b="b"/>
            <a:pathLst>
              <a:path w="0" h="0">
                <a:moveTo>
                  <a:pt x="0" y="0"/>
                </a:moveTo>
                <a:lnTo>
                  <a:pt x="0" y="0"/>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81344" y="2670048"/>
            <a:ext cx="2615184" cy="21762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2670048"/>
            <a:ext cx="50292" cy="2176272"/>
          </a:xfrm>
          <a:prstGeom prst="rect">
            <a:avLst/>
          </a:pr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7376" y="2926080"/>
            <a:ext cx="2112263"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Укладка</a:t>
            </a:r>
          </a:p>
        </p:txBody>
      </p:sp>
      <p:sp>
        <p:nvSpPr>
          <p:cNvPr id="22" name="TextBox 21"/>
          <p:cNvSpPr txBox="1"/>
          <p:nvPr/>
        </p:nvSpPr>
        <p:spPr>
          <a:xfrm>
            <a:off x="6437376" y="3675888"/>
            <a:ext cx="2112263" cy="1042415"/>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Коробки, 3D, слои</a:t>
            </a:r>
          </a:p>
          <a:p>
            <a:pPr algn="l">
              <a:lnSpc>
                <a:spcPct val="112000"/>
              </a:lnSpc>
              <a:spcBef>
                <a:spcPts val="0"/>
              </a:spcBef>
              <a:spcAft>
                <a:spcPts val="0"/>
              </a:spcAft>
              <a:defRPr sz="1600" b="0">
                <a:solidFill>
                  <a:srgbClr val="61727C"/>
                </a:solidFill>
                <a:latin typeface="Segoe UI"/>
              </a:defRPr>
            </a:pPr>
            <a:r>
              <a:t>и пошаговые действия</a:t>
            </a:r>
          </a:p>
        </p:txBody>
      </p:sp>
      <p:sp>
        <p:nvSpPr>
          <p:cNvPr id="23" name="Freeform 22"/>
          <p:cNvSpPr/>
          <p:nvPr/>
        </p:nvSpPr>
        <p:spPr>
          <a:xfrm>
            <a:off x="9144000" y="3657600"/>
            <a:ext cx="0" cy="0"/>
          </a:xfrm>
          <a:custGeom>
            <a:avLst/>
            <a:gdLst/>
            <a:ahLst/>
            <a:cxnLst/>
            <a:rect l="l" t="t" r="r" b="b"/>
            <a:pathLst>
              <a:path w="0" h="0">
                <a:moveTo>
                  <a:pt x="0" y="0"/>
                </a:moveTo>
                <a:lnTo>
                  <a:pt x="0" y="0"/>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997696" y="2670048"/>
            <a:ext cx="2615184" cy="21762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2670048"/>
            <a:ext cx="50292" cy="217627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3728" y="2926080"/>
            <a:ext cx="2112263"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Контроль</a:t>
            </a:r>
          </a:p>
        </p:txBody>
      </p:sp>
      <p:sp>
        <p:nvSpPr>
          <p:cNvPr id="27" name="TextBox 26"/>
          <p:cNvSpPr txBox="1"/>
          <p:nvPr/>
        </p:nvSpPr>
        <p:spPr>
          <a:xfrm>
            <a:off x="9253728" y="3675888"/>
            <a:ext cx="2112263" cy="1042415"/>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Неупакованные товары,</a:t>
            </a:r>
          </a:p>
          <a:p>
            <a:pPr algn="l">
              <a:lnSpc>
                <a:spcPct val="112000"/>
              </a:lnSpc>
              <a:spcBef>
                <a:spcPts val="0"/>
              </a:spcBef>
              <a:spcAft>
                <a:spcPts val="0"/>
              </a:spcAft>
              <a:defRPr sz="1600" b="0">
                <a:solidFill>
                  <a:srgbClr val="61727C"/>
                </a:solidFill>
                <a:latin typeface="Segoe UI"/>
              </a:defRPr>
            </a:pPr>
            <a:r>
              <a:t>причины и JSON</a:t>
            </a:r>
          </a:p>
        </p:txBody>
      </p:sp>
      <p:sp>
        <p:nvSpPr>
          <p:cNvPr id="28" name="Rounded Rectangle 27"/>
          <p:cNvSpPr/>
          <p:nvPr/>
        </p:nvSpPr>
        <p:spPr>
          <a:xfrm>
            <a:off x="548640" y="5184648"/>
            <a:ext cx="11091672" cy="923544"/>
          </a:xfrm>
          <a:prstGeom prst="roundRect">
            <a:avLst>
              <a:gd name="adj" fmla="val 12000"/>
            </a:avLst>
          </a:prstGeom>
          <a:solidFill>
            <a:srgbClr val="17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5376672"/>
            <a:ext cx="4791456" cy="320040"/>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FFFFFF"/>
                </a:solidFill>
                <a:latin typeface="Segoe UI"/>
              </a:defRPr>
            </a:pPr>
            <a:r>
              <a:t>Длинные списки сворачиваются</a:t>
            </a:r>
          </a:p>
        </p:txBody>
      </p:sp>
      <p:sp>
        <p:nvSpPr>
          <p:cNvPr id="30" name="TextBox 29"/>
          <p:cNvSpPr txBox="1"/>
          <p:nvPr/>
        </p:nvSpPr>
        <p:spPr>
          <a:xfrm>
            <a:off x="5806440" y="5358384"/>
            <a:ext cx="5486400" cy="566928"/>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C6D7DC"/>
                </a:solidFill>
                <a:latin typeface="Segoe UI"/>
              </a:defRPr>
            </a:pPr>
            <a:r>
              <a:t>Сводка на виду; состав заказа и остаток</a:t>
            </a:r>
          </a:p>
          <a:p>
            <a:pPr algn="l">
              <a:lnSpc>
                <a:spcPct val="112000"/>
              </a:lnSpc>
              <a:spcBef>
                <a:spcPts val="0"/>
              </a:spcBef>
              <a:spcAft>
                <a:spcPts val="0"/>
              </a:spcAft>
              <a:defRPr sz="1700" b="0">
                <a:solidFill>
                  <a:srgbClr val="C6D7DC"/>
                </a:solidFill>
                <a:latin typeface="Segoe UI"/>
              </a:defRPr>
            </a:pPr>
            <a:r>
              <a:t>раскрываются по необходимости.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5"/>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04 / МОДЕЛЬ</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183342"/>
                </a:solidFill>
                <a:latin typeface="Segoe UI"/>
              </a:defRPr>
            </a:pPr>
            <a:r>
              <a:t>Геометрия, масса, запас и опора</a:t>
            </a:r>
          </a:p>
        </p:txBody>
      </p:sp>
      <p:sp>
        <p:nvSpPr>
          <p:cNvPr id="4" name="TextBox 3"/>
          <p:cNvSpPr txBox="1"/>
          <p:nvPr/>
        </p:nvSpPr>
        <p:spPr>
          <a:xfrm>
            <a:off x="548640" y="1947672"/>
            <a:ext cx="10972800" cy="512064"/>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61727C"/>
                </a:solidFill>
                <a:latin typeface="Segoe UI"/>
              </a:defRPr>
            </a:pPr>
            <a:r>
              <a:t>Каждый план проходит независимую проверку корректности размещений.</a:t>
            </a:r>
          </a:p>
        </p:txBody>
      </p:sp>
      <p:cxnSp>
        <p:nvCxnSpPr>
          <p:cNvPr id="5" name="Connector 4"/>
          <p:cNvCxnSpPr/>
          <p:nvPr/>
        </p:nvCxnSpPr>
        <p:spPr>
          <a:xfrm>
            <a:off x="548640" y="6473952"/>
            <a:ext cx="11091672" cy="0"/>
          </a:xfrm>
          <a:prstGeom prst="line">
            <a:avLst/>
          </a:prstGeom>
          <a:ln w="8890">
            <a:solidFill>
              <a:srgbClr val="DCE5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61727C"/>
                </a:solidFill>
                <a:latin typeface="Segoe UI"/>
              </a:defRPr>
            </a:pPr>
            <a:r>
              <a:t>DunCarBox</a:t>
            </a:r>
          </a:p>
        </p:txBody>
      </p:sp>
      <p:sp>
        <p:nvSpPr>
          <p:cNvPr id="7" name="TextBox 6"/>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61727C"/>
                </a:solidFill>
                <a:latin typeface="Segoe UI"/>
              </a:defRPr>
            </a:pPr>
            <a:r>
              <a:t>ХАКАТОН / 2026</a:t>
            </a:r>
          </a:p>
        </p:txBody>
      </p:sp>
      <p:sp>
        <p:nvSpPr>
          <p:cNvPr id="8" name="TextBox 7"/>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61727C"/>
                </a:solidFill>
                <a:latin typeface="Segoe UI"/>
              </a:defRPr>
            </a:pPr>
            <a:r>
              <a:t>04</a:t>
            </a:r>
          </a:p>
        </p:txBody>
      </p:sp>
      <p:sp>
        <p:nvSpPr>
          <p:cNvPr id="9" name="Rounded Rectangle 8"/>
          <p:cNvSpPr/>
          <p:nvPr/>
        </p:nvSpPr>
        <p:spPr>
          <a:xfrm>
            <a:off x="548640" y="2670048"/>
            <a:ext cx="4791456" cy="3493008"/>
          </a:xfrm>
          <a:prstGeom prst="roundRect">
            <a:avLst>
              <a:gd name="adj" fmla="val 12000"/>
            </a:avLst>
          </a:prstGeom>
          <a:solidFill>
            <a:srgbClr val="17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743200" y="4572000"/>
            <a:ext cx="914400" cy="1828800"/>
          </a:xfrm>
          <a:custGeom>
            <a:avLst/>
            <a:gdLst/>
            <a:ahLst/>
            <a:cxnLst/>
            <a:rect l="l" t="t" r="r" b="b"/>
            <a:pathLst>
              <a:path w="1" h="2">
                <a:moveTo>
                  <a:pt x="0" y="1"/>
                </a:moveTo>
                <a:lnTo>
                  <a:pt x="1" y="2"/>
                </a:lnTo>
                <a:lnTo>
                  <a:pt x="1" y="1"/>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743200" y="5486400"/>
            <a:ext cx="914400" cy="914400"/>
          </a:xfrm>
          <a:custGeom>
            <a:avLst/>
            <a:gdLst/>
            <a:ahLst/>
            <a:cxnLst/>
            <a:rect l="l" t="t" r="r" b="b"/>
            <a:pathLst>
              <a:path w="1" h="1">
                <a:moveTo>
                  <a:pt x="1" y="1"/>
                </a:moveTo>
                <a:lnTo>
                  <a:pt x="0" y="1"/>
                </a:lnTo>
                <a:lnTo>
                  <a:pt x="0" y="0"/>
                </a:lnTo>
                <a:lnTo>
                  <a:pt x="1" y="0"/>
                </a:lnTo>
                <a:close/>
              </a:path>
            </a:pathLst>
          </a:custGeom>
          <a:solidFill>
            <a:srgbClr val="075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914400" y="4572000"/>
            <a:ext cx="2743200" cy="914400"/>
          </a:xfrm>
          <a:custGeom>
            <a:avLst/>
            <a:gdLst/>
            <a:ahLst/>
            <a:cxnLst/>
            <a:rect l="l" t="t" r="r" b="b"/>
            <a:pathLst>
              <a:path w="3" h="1">
                <a:moveTo>
                  <a:pt x="2" y="0"/>
                </a:moveTo>
                <a:lnTo>
                  <a:pt x="3" y="1"/>
                </a:lnTo>
                <a:lnTo>
                  <a:pt x="2" y="1"/>
                </a:lnTo>
                <a:lnTo>
                  <a:pt x="0" y="1"/>
                </a:lnTo>
                <a:close/>
              </a:path>
            </a:pathLst>
          </a:custGeom>
          <a:solidFill>
            <a:srgbClr val="A7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743200" y="3657600"/>
            <a:ext cx="0" cy="914400"/>
          </a:xfrm>
          <a:custGeom>
            <a:avLst/>
            <a:gdLst/>
            <a:ahLst/>
            <a:cxnLst/>
            <a:rect l="l" t="t" r="r" b="b"/>
            <a:pathLst>
              <a:path w="0" h="1">
                <a:moveTo>
                  <a:pt x="0" y="1"/>
                </a:moveTo>
                <a:lnTo>
                  <a:pt x="0" y="1"/>
                </a:lnTo>
                <a:lnTo>
                  <a:pt x="0" y="1"/>
                </a:lnTo>
                <a:lnTo>
                  <a:pt x="0" y="0"/>
                </a:lnTo>
                <a:close/>
              </a:path>
            </a:pathLst>
          </a:cu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828800" y="4572000"/>
            <a:ext cx="914400" cy="914400"/>
          </a:xfrm>
          <a:custGeom>
            <a:avLst/>
            <a:gdLst/>
            <a:ahLst/>
            <a:cxnLst/>
            <a:rect l="l" t="t" r="r" b="b"/>
            <a:pathLst>
              <a:path w="1" h="1">
                <a:moveTo>
                  <a:pt x="1" y="0"/>
                </a:moveTo>
                <a:lnTo>
                  <a:pt x="0" y="1"/>
                </a:lnTo>
                <a:lnTo>
                  <a:pt x="0" y="0"/>
                </a:lnTo>
                <a:lnTo>
                  <a:pt x="1" y="0"/>
                </a:lnTo>
                <a:close/>
              </a:path>
            </a:pathLst>
          </a:custGeom>
          <a:solidFill>
            <a:srgbClr val="C45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828800" y="3657600"/>
            <a:ext cx="914400" cy="914400"/>
          </a:xfrm>
          <a:custGeom>
            <a:avLst/>
            <a:gdLst/>
            <a:ahLst/>
            <a:cxnLst/>
            <a:rect l="l" t="t" r="r" b="b"/>
            <a:pathLst>
              <a:path w="1" h="1">
                <a:moveTo>
                  <a:pt x="1" y="0"/>
                </a:moveTo>
                <a:lnTo>
                  <a:pt x="1" y="1"/>
                </a:lnTo>
                <a:lnTo>
                  <a:pt x="0" y="1"/>
                </a:lnTo>
                <a:lnTo>
                  <a:pt x="0" y="1"/>
                </a:lnTo>
                <a:close/>
              </a:path>
            </a:pathLst>
          </a:custGeom>
          <a:solidFill>
            <a:srgbClr val="F4AD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550408"/>
            <a:ext cx="4233672" cy="530352"/>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FFFFFF"/>
                </a:solidFill>
                <a:latin typeface="Segoe UI"/>
              </a:defRPr>
            </a:pPr>
            <a:r>
              <a:t>Основание товара должно</a:t>
            </a:r>
          </a:p>
          <a:p>
            <a:pPr algn="l">
              <a:lnSpc>
                <a:spcPct val="112000"/>
              </a:lnSpc>
              <a:spcBef>
                <a:spcPts val="0"/>
              </a:spcBef>
              <a:spcAft>
                <a:spcPts val="0"/>
              </a:spcAft>
              <a:defRPr sz="1600" b="0">
                <a:solidFill>
                  <a:srgbClr val="FFFFFF"/>
                </a:solidFill>
                <a:latin typeface="Segoe UI"/>
              </a:defRPr>
            </a:pPr>
            <a:r>
              <a:t>опираться на дно или другие товары.</a:t>
            </a:r>
          </a:p>
        </p:txBody>
      </p:sp>
      <p:sp>
        <p:nvSpPr>
          <p:cNvPr id="17" name="Oval 16"/>
          <p:cNvSpPr/>
          <p:nvPr/>
        </p:nvSpPr>
        <p:spPr>
          <a:xfrm>
            <a:off x="5696712" y="2788920"/>
            <a:ext cx="164592" cy="164592"/>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53328" y="2715768"/>
            <a:ext cx="5577840" cy="310896"/>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83342"/>
                </a:solidFill>
                <a:latin typeface="Segoe UI"/>
              </a:defRPr>
            </a:pPr>
            <a:r>
              <a:t>Границы и пересечения</a:t>
            </a:r>
          </a:p>
        </p:txBody>
      </p:sp>
      <p:sp>
        <p:nvSpPr>
          <p:cNvPr id="19" name="TextBox 18"/>
          <p:cNvSpPr txBox="1"/>
          <p:nvPr/>
        </p:nvSpPr>
        <p:spPr>
          <a:xfrm>
            <a:off x="6053328" y="3081528"/>
            <a:ext cx="5577840" cy="310896"/>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Товары внутри коробки и не пересекаются.</a:t>
            </a:r>
          </a:p>
        </p:txBody>
      </p:sp>
      <p:sp>
        <p:nvSpPr>
          <p:cNvPr id="20" name="Oval 19"/>
          <p:cNvSpPr/>
          <p:nvPr/>
        </p:nvSpPr>
        <p:spPr>
          <a:xfrm>
            <a:off x="5696712" y="3547872"/>
            <a:ext cx="164592" cy="164592"/>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474720"/>
            <a:ext cx="5577840" cy="310896"/>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83342"/>
                </a:solidFill>
                <a:latin typeface="Segoe UI"/>
              </a:defRPr>
            </a:pPr>
            <a:r>
              <a:t>Повороты</a:t>
            </a:r>
          </a:p>
        </p:txBody>
      </p:sp>
      <p:sp>
        <p:nvSpPr>
          <p:cNvPr id="22" name="TextBox 21"/>
          <p:cNvSpPr txBox="1"/>
          <p:nvPr/>
        </p:nvSpPr>
        <p:spPr>
          <a:xfrm>
            <a:off x="6053328" y="3840480"/>
            <a:ext cx="5577840" cy="310896"/>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Только разрешённые для каждого товара.</a:t>
            </a:r>
          </a:p>
        </p:txBody>
      </p:sp>
      <p:sp>
        <p:nvSpPr>
          <p:cNvPr id="23" name="Oval 22"/>
          <p:cNvSpPr/>
          <p:nvPr/>
        </p:nvSpPr>
        <p:spPr>
          <a:xfrm>
            <a:off x="5696712" y="4306824"/>
            <a:ext cx="164592" cy="164592"/>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53328" y="4233672"/>
            <a:ext cx="5577840" cy="310896"/>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83342"/>
                </a:solidFill>
                <a:latin typeface="Segoe UI"/>
              </a:defRPr>
            </a:pPr>
            <a:r>
              <a:t>Вес и складской остаток</a:t>
            </a:r>
          </a:p>
        </p:txBody>
      </p:sp>
      <p:sp>
        <p:nvSpPr>
          <p:cNvPr id="25" name="TextBox 24"/>
          <p:cNvSpPr txBox="1"/>
          <p:nvPr/>
        </p:nvSpPr>
        <p:spPr>
          <a:xfrm>
            <a:off x="6053328" y="4599432"/>
            <a:ext cx="5577840" cy="310896"/>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Лимит массы и доступное число коробок.</a:t>
            </a:r>
          </a:p>
        </p:txBody>
      </p:sp>
      <p:sp>
        <p:nvSpPr>
          <p:cNvPr id="26" name="Oval 25"/>
          <p:cNvSpPr/>
          <p:nvPr/>
        </p:nvSpPr>
        <p:spPr>
          <a:xfrm>
            <a:off x="5696712" y="5065776"/>
            <a:ext cx="164592" cy="164592"/>
          </a:xfrm>
          <a:prstGeom prst="ellipse">
            <a:avLst/>
          </a:pr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53328" y="4992624"/>
            <a:ext cx="5577840" cy="310896"/>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83342"/>
                </a:solidFill>
                <a:latin typeface="Segoe UI"/>
              </a:defRPr>
            </a:pPr>
            <a:r>
              <a:t>Площадь опоры</a:t>
            </a:r>
          </a:p>
        </p:txBody>
      </p:sp>
      <p:sp>
        <p:nvSpPr>
          <p:cNvPr id="28" name="TextBox 27"/>
          <p:cNvSpPr txBox="1"/>
          <p:nvPr/>
        </p:nvSpPr>
        <p:spPr>
          <a:xfrm>
            <a:off x="6053328" y="5358384"/>
            <a:ext cx="5577840" cy="310896"/>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Эвристика ≥ 80%; модель Z3 — 100%.</a:t>
            </a:r>
          </a:p>
        </p:txBody>
      </p:sp>
      <p:sp>
        <p:nvSpPr>
          <p:cNvPr id="29" name="TextBox 28"/>
          <p:cNvSpPr txBox="1"/>
          <p:nvPr/>
        </p:nvSpPr>
        <p:spPr>
          <a:xfrm>
            <a:off x="5696712" y="5934456"/>
            <a:ext cx="5943600" cy="448056"/>
          </a:xfrm>
          <a:prstGeom prst="rect">
            <a:avLst/>
          </a:prstGeom>
          <a:noFill/>
        </p:spPr>
        <p:txBody>
          <a:bodyPr wrap="square" lIns="0" rIns="0" tIns="0" bIns="0" anchor="t">
            <a:spAutoFit/>
          </a:bodyPr>
          <a:lstStyle/>
          <a:p>
            <a:pPr algn="l">
              <a:lnSpc>
                <a:spcPct val="112000"/>
              </a:lnSpc>
              <a:spcBef>
                <a:spcPts val="0"/>
              </a:spcBef>
              <a:spcAft>
                <a:spcPts val="0"/>
              </a:spcAft>
              <a:defRPr sz="1150" b="0">
                <a:solidFill>
                  <a:srgbClr val="61727C"/>
                </a:solidFill>
                <a:latin typeface="Segoe UI"/>
              </a:defRPr>
            </a:pPr>
            <a:r>
              <a:t>Граница MVP: жёсткие прямоугольные товары; хрупкость и нагрузки пока не моделируются.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5"/>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05 / АЛГОРИТМЫ</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183342"/>
                </a:solidFill>
                <a:latin typeface="Segoe UI"/>
              </a:defRPr>
            </a:pPr>
            <a:r>
              <a:t>Два алгоритма — один формат результата</a:t>
            </a:r>
          </a:p>
        </p:txBody>
      </p:sp>
      <p:cxnSp>
        <p:nvCxnSpPr>
          <p:cNvPr id="4" name="Connector 3"/>
          <p:cNvCxnSpPr/>
          <p:nvPr/>
        </p:nvCxnSpPr>
        <p:spPr>
          <a:xfrm>
            <a:off x="548640" y="6473952"/>
            <a:ext cx="11091672" cy="0"/>
          </a:xfrm>
          <a:prstGeom prst="line">
            <a:avLst/>
          </a:prstGeom>
          <a:ln w="8890">
            <a:solidFill>
              <a:srgbClr val="DCE5E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61727C"/>
                </a:solidFill>
                <a:latin typeface="Segoe UI"/>
              </a:defRPr>
            </a:pPr>
            <a:r>
              <a:t>DunCarBox</a:t>
            </a:r>
          </a:p>
        </p:txBody>
      </p:sp>
      <p:sp>
        <p:nvSpPr>
          <p:cNvPr id="6" name="TextBox 5"/>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61727C"/>
                </a:solidFill>
                <a:latin typeface="Segoe UI"/>
              </a:defRPr>
            </a:pPr>
            <a:r>
              <a:t>ХАКАТОН / 2026</a:t>
            </a:r>
          </a:p>
        </p:txBody>
      </p:sp>
      <p:sp>
        <p:nvSpPr>
          <p:cNvPr id="7" name="TextBox 6"/>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61727C"/>
                </a:solidFill>
                <a:latin typeface="Segoe UI"/>
              </a:defRPr>
            </a:pPr>
            <a:r>
              <a:t>05</a:t>
            </a:r>
          </a:p>
        </p:txBody>
      </p:sp>
      <p:sp>
        <p:nvSpPr>
          <p:cNvPr id="8" name="Rounded Rectangle 7"/>
          <p:cNvSpPr/>
          <p:nvPr/>
        </p:nvSpPr>
        <p:spPr>
          <a:xfrm>
            <a:off x="548640" y="2130552"/>
            <a:ext cx="5431536" cy="245973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08776" y="2130552"/>
            <a:ext cx="5431536" cy="2459736"/>
          </a:xfrm>
          <a:prstGeom prst="roundRect">
            <a:avLst>
              <a:gd name="adj" fmla="val 12000"/>
            </a:avLst>
          </a:prstGeom>
          <a:solidFill>
            <a:srgbClr val="17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2377440"/>
            <a:ext cx="438912" cy="320040"/>
          </a:xfrm>
          <a:prstGeom prst="roundRect">
            <a:avLst>
              <a:gd name="adj" fmla="val 12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409444"/>
            <a:ext cx="256031" cy="237744"/>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FFFFFF"/>
                </a:solidFill>
                <a:latin typeface="Segoe UI"/>
              </a:defRPr>
            </a:pPr>
            <a:r>
              <a:t>01</a:t>
            </a:r>
          </a:p>
        </p:txBody>
      </p:sp>
      <p:sp>
        <p:nvSpPr>
          <p:cNvPr id="12" name="TextBox 11"/>
          <p:cNvSpPr txBox="1"/>
          <p:nvPr/>
        </p:nvSpPr>
        <p:spPr>
          <a:xfrm>
            <a:off x="1417320" y="2368296"/>
            <a:ext cx="4133087" cy="484632"/>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183342"/>
                </a:solidFill>
                <a:latin typeface="Segoe UI"/>
              </a:defRPr>
            </a:pPr>
            <a:r>
              <a:t>Быстрая эвристика</a:t>
            </a:r>
          </a:p>
        </p:txBody>
      </p:sp>
      <p:sp>
        <p:nvSpPr>
          <p:cNvPr id="13" name="TextBox 12"/>
          <p:cNvSpPr txBox="1"/>
          <p:nvPr/>
        </p:nvSpPr>
        <p:spPr>
          <a:xfrm>
            <a:off x="822960" y="3127248"/>
            <a:ext cx="4901184" cy="1225296"/>
          </a:xfrm>
          <a:prstGeom prst="rect">
            <a:avLst/>
          </a:prstGeom>
          <a:noFill/>
        </p:spPr>
        <p:txBody>
          <a:bodyPr wrap="square" lIns="0" rIns="0" tIns="0" bIns="0" anchor="t">
            <a:spAutoFit/>
          </a:bodyPr>
          <a:lstStyle/>
          <a:p>
            <a:pPr algn="l">
              <a:lnSpc>
                <a:spcPct val="146000"/>
              </a:lnSpc>
              <a:spcBef>
                <a:spcPts val="0"/>
              </a:spcBef>
              <a:spcAft>
                <a:spcPts val="0"/>
              </a:spcAft>
              <a:defRPr sz="1900" b="0">
                <a:solidFill>
                  <a:srgbClr val="61727C"/>
                </a:solidFill>
                <a:latin typeface="Segoe UI"/>
              </a:defRPr>
            </a:pPr>
            <a:r>
              <a:t>Несколько стратегий укладки</a:t>
            </a:r>
          </a:p>
          <a:p>
            <a:pPr algn="l">
              <a:lnSpc>
                <a:spcPct val="146000"/>
              </a:lnSpc>
              <a:spcBef>
                <a:spcPts val="0"/>
              </a:spcBef>
              <a:spcAft>
                <a:spcPts val="0"/>
              </a:spcAft>
              <a:defRPr sz="1900" b="0">
                <a:solidFill>
                  <a:srgbClr val="61727C"/>
                </a:solidFill>
                <a:latin typeface="Segoe UI"/>
              </a:defRPr>
            </a:pPr>
            <a:r>
              <a:t>Проверка каждого кандидата</a:t>
            </a:r>
          </a:p>
          <a:p>
            <a:pPr algn="l">
              <a:lnSpc>
                <a:spcPct val="146000"/>
              </a:lnSpc>
              <a:spcBef>
                <a:spcPts val="0"/>
              </a:spcBef>
              <a:spcAft>
                <a:spcPts val="0"/>
              </a:spcAft>
              <a:defRPr sz="1900" b="0">
                <a:solidFill>
                  <a:srgbClr val="61727C"/>
                </a:solidFill>
                <a:latin typeface="Segoe UI"/>
              </a:defRPr>
            </a:pPr>
            <a:r>
              <a:t>Без гарантии глобального оптимума</a:t>
            </a:r>
          </a:p>
        </p:txBody>
      </p:sp>
      <p:sp>
        <p:nvSpPr>
          <p:cNvPr id="14" name="Rounded Rectangle 13"/>
          <p:cNvSpPr/>
          <p:nvPr/>
        </p:nvSpPr>
        <p:spPr>
          <a:xfrm>
            <a:off x="6473952" y="2377440"/>
            <a:ext cx="438912" cy="320040"/>
          </a:xfrm>
          <a:prstGeom prst="roundRect">
            <a:avLst>
              <a:gd name="adj" fmla="val 12000"/>
            </a:avLst>
          </a:pr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2" y="2409444"/>
            <a:ext cx="256031" cy="237744"/>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FFFFFF"/>
                </a:solidFill>
                <a:latin typeface="Segoe UI"/>
              </a:defRPr>
            </a:pPr>
            <a:r>
              <a:t>02</a:t>
            </a:r>
          </a:p>
        </p:txBody>
      </p:sp>
      <p:sp>
        <p:nvSpPr>
          <p:cNvPr id="16" name="TextBox 15"/>
          <p:cNvSpPr txBox="1"/>
          <p:nvPr/>
        </p:nvSpPr>
        <p:spPr>
          <a:xfrm>
            <a:off x="7086600" y="2368296"/>
            <a:ext cx="4233672" cy="484632"/>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FFFFFF"/>
                </a:solidFill>
                <a:latin typeface="Segoe UI"/>
              </a:defRPr>
            </a:pPr>
            <a:r>
              <a:t>Оптимизатор Z3</a:t>
            </a:r>
          </a:p>
        </p:txBody>
      </p:sp>
      <p:sp>
        <p:nvSpPr>
          <p:cNvPr id="17" name="TextBox 16"/>
          <p:cNvSpPr txBox="1"/>
          <p:nvPr/>
        </p:nvSpPr>
        <p:spPr>
          <a:xfrm>
            <a:off x="6492240" y="3127248"/>
            <a:ext cx="4864608" cy="1225296"/>
          </a:xfrm>
          <a:prstGeom prst="rect">
            <a:avLst/>
          </a:prstGeom>
          <a:noFill/>
        </p:spPr>
        <p:txBody>
          <a:bodyPr wrap="square" lIns="0" rIns="0" tIns="0" bIns="0" anchor="t">
            <a:spAutoFit/>
          </a:bodyPr>
          <a:lstStyle/>
          <a:p>
            <a:pPr algn="l">
              <a:lnSpc>
                <a:spcPct val="146000"/>
              </a:lnSpc>
              <a:spcBef>
                <a:spcPts val="0"/>
              </a:spcBef>
              <a:spcAft>
                <a:spcPts val="0"/>
              </a:spcAft>
              <a:defRPr sz="1900" b="0">
                <a:solidFill>
                  <a:srgbClr val="C6D7DC"/>
                </a:solidFill>
                <a:latin typeface="Segoe UI"/>
              </a:defRPr>
            </a:pPr>
            <a:r>
              <a:t>Точная модель ограничений</a:t>
            </a:r>
          </a:p>
          <a:p>
            <a:pPr algn="l">
              <a:lnSpc>
                <a:spcPct val="146000"/>
              </a:lnSpc>
              <a:spcBef>
                <a:spcPts val="0"/>
              </a:spcBef>
              <a:spcAft>
                <a:spcPts val="0"/>
              </a:spcAft>
              <a:defRPr sz="1900" b="0">
                <a:solidFill>
                  <a:srgbClr val="C6D7DC"/>
                </a:solidFill>
                <a:latin typeface="Segoe UI"/>
              </a:defRPr>
            </a:pPr>
            <a:r>
              <a:t>Поиск без лимита времени</a:t>
            </a:r>
          </a:p>
          <a:p>
            <a:pPr algn="l">
              <a:lnSpc>
                <a:spcPct val="146000"/>
              </a:lnSpc>
              <a:spcBef>
                <a:spcPts val="0"/>
              </a:spcBef>
              <a:spcAft>
                <a:spcPts val="0"/>
              </a:spcAft>
              <a:defRPr sz="1900" b="0">
                <a:solidFill>
                  <a:srgbClr val="C6D7DC"/>
                </a:solidFill>
                <a:latin typeface="Segoe UI"/>
              </a:defRPr>
            </a:pPr>
            <a:r>
              <a:t>Завершение поиска или ручная отмена</a:t>
            </a:r>
          </a:p>
        </p:txBody>
      </p:sp>
      <p:sp>
        <p:nvSpPr>
          <p:cNvPr id="18" name="TextBox 17"/>
          <p:cNvSpPr txBox="1"/>
          <p:nvPr/>
        </p:nvSpPr>
        <p:spPr>
          <a:xfrm>
            <a:off x="557784" y="4910328"/>
            <a:ext cx="10972800" cy="265176"/>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C"/>
                </a:solidFill>
                <a:latin typeface="Segoe UI"/>
              </a:defRPr>
            </a:pPr>
            <a:r>
              <a:t>ПРИОРИТЕТЫ ОПТИМИЗАЦИИ Z3 — ПО ПОРЯДКУ</a:t>
            </a:r>
          </a:p>
        </p:txBody>
      </p:sp>
      <p:sp>
        <p:nvSpPr>
          <p:cNvPr id="19" name="Oval 18"/>
          <p:cNvSpPr/>
          <p:nvPr/>
        </p:nvSpPr>
        <p:spPr>
          <a:xfrm>
            <a:off x="548640" y="5431536"/>
            <a:ext cx="384048" cy="384048"/>
          </a:xfrm>
          <a:prstGeom prst="ellipse">
            <a:avLst/>
          </a:prstGeom>
          <a:solidFill>
            <a:srgbClr val="E4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468112"/>
            <a:ext cx="384048" cy="274320"/>
          </a:xfrm>
          <a:prstGeom prst="rect">
            <a:avLst/>
          </a:prstGeom>
          <a:noFill/>
        </p:spPr>
        <p:txBody>
          <a:bodyPr wrap="square" lIns="0" rIns="0" tIns="0" bIns="0" anchor="t">
            <a:spAutoFit/>
          </a:bodyPr>
          <a:lstStyle/>
          <a:p>
            <a:pPr algn="ctr">
              <a:lnSpc>
                <a:spcPct val="112000"/>
              </a:lnSpc>
              <a:spcBef>
                <a:spcPts val="0"/>
              </a:spcBef>
              <a:spcAft>
                <a:spcPts val="0"/>
              </a:spcAft>
              <a:defRPr sz="1500" b="1">
                <a:solidFill>
                  <a:srgbClr val="087F8C"/>
                </a:solidFill>
                <a:latin typeface="Segoe UI"/>
              </a:defRPr>
            </a:pPr>
            <a:r>
              <a:t>1</a:t>
            </a:r>
          </a:p>
        </p:txBody>
      </p:sp>
      <p:sp>
        <p:nvSpPr>
          <p:cNvPr id="21" name="TextBox 20"/>
          <p:cNvSpPr txBox="1"/>
          <p:nvPr/>
        </p:nvSpPr>
        <p:spPr>
          <a:xfrm>
            <a:off x="1088136" y="5385816"/>
            <a:ext cx="2121408" cy="649224"/>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183342"/>
                </a:solidFill>
                <a:latin typeface="Segoe UI"/>
              </a:defRPr>
            </a:pPr>
            <a:r>
              <a:t>Больше</a:t>
            </a:r>
          </a:p>
          <a:p>
            <a:pPr algn="l">
              <a:lnSpc>
                <a:spcPct val="112000"/>
              </a:lnSpc>
              <a:spcBef>
                <a:spcPts val="0"/>
              </a:spcBef>
              <a:spcAft>
                <a:spcPts val="0"/>
              </a:spcAft>
              <a:defRPr sz="1650" b="1">
                <a:solidFill>
                  <a:srgbClr val="183342"/>
                </a:solidFill>
                <a:latin typeface="Segoe UI"/>
              </a:defRPr>
            </a:pPr>
            <a:r>
              <a:t>единиц</a:t>
            </a:r>
          </a:p>
        </p:txBody>
      </p:sp>
      <p:sp>
        <p:nvSpPr>
          <p:cNvPr id="22" name="Oval 21"/>
          <p:cNvSpPr/>
          <p:nvPr/>
        </p:nvSpPr>
        <p:spPr>
          <a:xfrm>
            <a:off x="3364992" y="5431536"/>
            <a:ext cx="384048" cy="384048"/>
          </a:xfrm>
          <a:prstGeom prst="ellipse">
            <a:avLst/>
          </a:prstGeom>
          <a:solidFill>
            <a:srgbClr val="E4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64992" y="5468112"/>
            <a:ext cx="384048" cy="274320"/>
          </a:xfrm>
          <a:prstGeom prst="rect">
            <a:avLst/>
          </a:prstGeom>
          <a:noFill/>
        </p:spPr>
        <p:txBody>
          <a:bodyPr wrap="square" lIns="0" rIns="0" tIns="0" bIns="0" anchor="t">
            <a:spAutoFit/>
          </a:bodyPr>
          <a:lstStyle/>
          <a:p>
            <a:pPr algn="ctr">
              <a:lnSpc>
                <a:spcPct val="112000"/>
              </a:lnSpc>
              <a:spcBef>
                <a:spcPts val="0"/>
              </a:spcBef>
              <a:spcAft>
                <a:spcPts val="0"/>
              </a:spcAft>
              <a:defRPr sz="1500" b="1">
                <a:solidFill>
                  <a:srgbClr val="087F8C"/>
                </a:solidFill>
                <a:latin typeface="Segoe UI"/>
              </a:defRPr>
            </a:pPr>
            <a:r>
              <a:t>2</a:t>
            </a:r>
          </a:p>
        </p:txBody>
      </p:sp>
      <p:sp>
        <p:nvSpPr>
          <p:cNvPr id="24" name="TextBox 23"/>
          <p:cNvSpPr txBox="1"/>
          <p:nvPr/>
        </p:nvSpPr>
        <p:spPr>
          <a:xfrm>
            <a:off x="3904488" y="5385816"/>
            <a:ext cx="2121408" cy="649224"/>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183342"/>
                </a:solidFill>
                <a:latin typeface="Segoe UI"/>
              </a:defRPr>
            </a:pPr>
            <a:r>
              <a:t>Больше объёма</a:t>
            </a:r>
          </a:p>
          <a:p>
            <a:pPr algn="l">
              <a:lnSpc>
                <a:spcPct val="112000"/>
              </a:lnSpc>
              <a:spcBef>
                <a:spcPts val="0"/>
              </a:spcBef>
              <a:spcAft>
                <a:spcPts val="0"/>
              </a:spcAft>
              <a:defRPr sz="1650" b="1">
                <a:solidFill>
                  <a:srgbClr val="183342"/>
                </a:solidFill>
                <a:latin typeface="Segoe UI"/>
              </a:defRPr>
            </a:pPr>
            <a:r>
              <a:t>товаров</a:t>
            </a:r>
          </a:p>
        </p:txBody>
      </p:sp>
      <p:sp>
        <p:nvSpPr>
          <p:cNvPr id="25" name="Oval 24"/>
          <p:cNvSpPr/>
          <p:nvPr/>
        </p:nvSpPr>
        <p:spPr>
          <a:xfrm>
            <a:off x="6181344" y="5431536"/>
            <a:ext cx="384048" cy="384048"/>
          </a:xfrm>
          <a:prstGeom prst="ellipse">
            <a:avLst/>
          </a:prstGeom>
          <a:solidFill>
            <a:srgbClr val="E4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81344" y="5468112"/>
            <a:ext cx="384048" cy="274320"/>
          </a:xfrm>
          <a:prstGeom prst="rect">
            <a:avLst/>
          </a:prstGeom>
          <a:noFill/>
        </p:spPr>
        <p:txBody>
          <a:bodyPr wrap="square" lIns="0" rIns="0" tIns="0" bIns="0" anchor="t">
            <a:spAutoFit/>
          </a:bodyPr>
          <a:lstStyle/>
          <a:p>
            <a:pPr algn="ctr">
              <a:lnSpc>
                <a:spcPct val="112000"/>
              </a:lnSpc>
              <a:spcBef>
                <a:spcPts val="0"/>
              </a:spcBef>
              <a:spcAft>
                <a:spcPts val="0"/>
              </a:spcAft>
              <a:defRPr sz="1500" b="1">
                <a:solidFill>
                  <a:srgbClr val="087F8C"/>
                </a:solidFill>
                <a:latin typeface="Segoe UI"/>
              </a:defRPr>
            </a:pPr>
            <a:r>
              <a:t>3</a:t>
            </a:r>
          </a:p>
        </p:txBody>
      </p:sp>
      <p:sp>
        <p:nvSpPr>
          <p:cNvPr id="27" name="TextBox 26"/>
          <p:cNvSpPr txBox="1"/>
          <p:nvPr/>
        </p:nvSpPr>
        <p:spPr>
          <a:xfrm>
            <a:off x="6720840" y="5385816"/>
            <a:ext cx="2121408" cy="649224"/>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183342"/>
                </a:solidFill>
                <a:latin typeface="Segoe UI"/>
              </a:defRPr>
            </a:pPr>
            <a:r>
              <a:t>Меньше объёма</a:t>
            </a:r>
          </a:p>
          <a:p>
            <a:pPr algn="l">
              <a:lnSpc>
                <a:spcPct val="112000"/>
              </a:lnSpc>
              <a:spcBef>
                <a:spcPts val="0"/>
              </a:spcBef>
              <a:spcAft>
                <a:spcPts val="0"/>
              </a:spcAft>
              <a:defRPr sz="1650" b="1">
                <a:solidFill>
                  <a:srgbClr val="183342"/>
                </a:solidFill>
                <a:latin typeface="Segoe UI"/>
              </a:defRPr>
            </a:pPr>
            <a:r>
              <a:t>коробок</a:t>
            </a:r>
          </a:p>
        </p:txBody>
      </p:sp>
      <p:sp>
        <p:nvSpPr>
          <p:cNvPr id="28" name="Oval 27"/>
          <p:cNvSpPr/>
          <p:nvPr/>
        </p:nvSpPr>
        <p:spPr>
          <a:xfrm>
            <a:off x="8997696" y="5431536"/>
            <a:ext cx="384048" cy="384048"/>
          </a:xfrm>
          <a:prstGeom prst="ellipse">
            <a:avLst/>
          </a:prstGeom>
          <a:solidFill>
            <a:srgbClr val="E4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97696" y="5468112"/>
            <a:ext cx="384048" cy="274320"/>
          </a:xfrm>
          <a:prstGeom prst="rect">
            <a:avLst/>
          </a:prstGeom>
          <a:noFill/>
        </p:spPr>
        <p:txBody>
          <a:bodyPr wrap="square" lIns="0" rIns="0" tIns="0" bIns="0" anchor="t">
            <a:spAutoFit/>
          </a:bodyPr>
          <a:lstStyle/>
          <a:p>
            <a:pPr algn="ctr">
              <a:lnSpc>
                <a:spcPct val="112000"/>
              </a:lnSpc>
              <a:spcBef>
                <a:spcPts val="0"/>
              </a:spcBef>
              <a:spcAft>
                <a:spcPts val="0"/>
              </a:spcAft>
              <a:defRPr sz="1500" b="1">
                <a:solidFill>
                  <a:srgbClr val="087F8C"/>
                </a:solidFill>
                <a:latin typeface="Segoe UI"/>
              </a:defRPr>
            </a:pPr>
            <a:r>
              <a:t>4</a:t>
            </a:r>
          </a:p>
        </p:txBody>
      </p:sp>
      <p:sp>
        <p:nvSpPr>
          <p:cNvPr id="30" name="TextBox 29"/>
          <p:cNvSpPr txBox="1"/>
          <p:nvPr/>
        </p:nvSpPr>
        <p:spPr>
          <a:xfrm>
            <a:off x="9537192" y="5385816"/>
            <a:ext cx="2121408" cy="649224"/>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183342"/>
                </a:solidFill>
                <a:latin typeface="Segoe UI"/>
              </a:defRPr>
            </a:pPr>
            <a:r>
              <a:t>Меньше</a:t>
            </a:r>
          </a:p>
          <a:p>
            <a:pPr algn="l">
              <a:lnSpc>
                <a:spcPct val="112000"/>
              </a:lnSpc>
              <a:spcBef>
                <a:spcPts val="0"/>
              </a:spcBef>
              <a:spcAft>
                <a:spcPts val="0"/>
              </a:spcAft>
              <a:defRPr sz="1650" b="1">
                <a:solidFill>
                  <a:srgbClr val="183342"/>
                </a:solidFill>
                <a:latin typeface="Segoe UI"/>
              </a:defRPr>
            </a:pPr>
            <a:r>
              <a:t>коробок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5"/>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06 / ВЫПОЛНЕНИЕ</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183342"/>
                </a:solidFill>
                <a:latin typeface="Segoe UI"/>
              </a:defRPr>
            </a:pPr>
            <a:r>
              <a:t>План превращается в действие</a:t>
            </a:r>
          </a:p>
        </p:txBody>
      </p:sp>
      <p:sp>
        <p:nvSpPr>
          <p:cNvPr id="4" name="TextBox 3"/>
          <p:cNvSpPr txBox="1"/>
          <p:nvPr/>
        </p:nvSpPr>
        <p:spPr>
          <a:xfrm>
            <a:off x="548640" y="1947672"/>
            <a:ext cx="10972800" cy="512064"/>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61727C"/>
                </a:solidFill>
                <a:latin typeface="Segoe UI"/>
              </a:defRPr>
            </a:pPr>
            <a:r>
              <a:t>3D, вид по слоям и инструкции используют одни и те же координаты.</a:t>
            </a:r>
          </a:p>
        </p:txBody>
      </p:sp>
      <p:cxnSp>
        <p:nvCxnSpPr>
          <p:cNvPr id="5" name="Connector 4"/>
          <p:cNvCxnSpPr/>
          <p:nvPr/>
        </p:nvCxnSpPr>
        <p:spPr>
          <a:xfrm>
            <a:off x="548640" y="6473952"/>
            <a:ext cx="11091672" cy="0"/>
          </a:xfrm>
          <a:prstGeom prst="line">
            <a:avLst/>
          </a:prstGeom>
          <a:ln w="8890">
            <a:solidFill>
              <a:srgbClr val="DCE5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61727C"/>
                </a:solidFill>
                <a:latin typeface="Segoe UI"/>
              </a:defRPr>
            </a:pPr>
            <a:r>
              <a:t>DunCarBox</a:t>
            </a:r>
          </a:p>
        </p:txBody>
      </p:sp>
      <p:sp>
        <p:nvSpPr>
          <p:cNvPr id="7" name="TextBox 6"/>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61727C"/>
                </a:solidFill>
                <a:latin typeface="Segoe UI"/>
              </a:defRPr>
            </a:pPr>
            <a:r>
              <a:t>ХАКАТОН / 2026</a:t>
            </a:r>
          </a:p>
        </p:txBody>
      </p:sp>
      <p:sp>
        <p:nvSpPr>
          <p:cNvPr id="8" name="TextBox 7"/>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61727C"/>
                </a:solidFill>
                <a:latin typeface="Segoe UI"/>
              </a:defRPr>
            </a:pPr>
            <a:r>
              <a:t>06</a:t>
            </a:r>
          </a:p>
        </p:txBody>
      </p:sp>
      <p:sp>
        <p:nvSpPr>
          <p:cNvPr id="9" name="Rounded Rectangle 8"/>
          <p:cNvSpPr/>
          <p:nvPr/>
        </p:nvSpPr>
        <p:spPr>
          <a:xfrm>
            <a:off x="548640" y="2651760"/>
            <a:ext cx="6702552" cy="35295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2871216"/>
            <a:ext cx="2834640" cy="320040"/>
          </a:xfrm>
          <a:prstGeom prst="roundRect">
            <a:avLst>
              <a:gd name="adj" fmla="val 12000"/>
            </a:avLst>
          </a:prstGeom>
          <a:solidFill>
            <a:srgbClr val="E4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903220"/>
            <a:ext cx="2651760" cy="237744"/>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ПРИМЕР ПО ДЕМО-ДАННЫМ</a:t>
            </a:r>
          </a:p>
        </p:txBody>
      </p:sp>
      <p:sp>
        <p:nvSpPr>
          <p:cNvPr id="12" name="TextBox 11"/>
          <p:cNvSpPr txBox="1"/>
          <p:nvPr/>
        </p:nvSpPr>
        <p:spPr>
          <a:xfrm>
            <a:off x="813816" y="3355848"/>
            <a:ext cx="6181344" cy="384048"/>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83342"/>
                </a:solidFill>
                <a:latin typeface="Segoe UI"/>
              </a:defRPr>
            </a:pPr>
            <a:r>
              <a:t>Коробка M · 400 × 300 × 250 мм</a:t>
            </a:r>
          </a:p>
        </p:txBody>
      </p:sp>
      <p:sp>
        <p:nvSpPr>
          <p:cNvPr id="13" name="Rectangle 12"/>
          <p:cNvSpPr/>
          <p:nvPr/>
        </p:nvSpPr>
        <p:spPr>
          <a:xfrm>
            <a:off x="923544" y="3931920"/>
            <a:ext cx="3364991" cy="1682495"/>
          </a:xfrm>
          <a:prstGeom prst="rect">
            <a:avLst/>
          </a:prstGeom>
          <a:solidFill>
            <a:srgbClr val="F3F6F5"/>
          </a:solidFill>
          <a:ln w="12700">
            <a:solidFill>
              <a:srgbClr val="DC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3544" y="3931920"/>
            <a:ext cx="1850745" cy="13459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74289" y="3931920"/>
            <a:ext cx="672998" cy="1009497"/>
          </a:xfrm>
          <a:prstGeom prst="rect">
            <a:avLst/>
          </a:pr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47287" y="3931920"/>
            <a:ext cx="588873" cy="588873"/>
          </a:xfrm>
          <a:prstGeom prst="rect">
            <a:avLst/>
          </a:prstGeom>
          <a:solidFill>
            <a:srgbClr val="EAB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4041648"/>
            <a:ext cx="1850745" cy="384048"/>
          </a:xfrm>
          <a:prstGeom prst="rect">
            <a:avLst/>
          </a:prstGeom>
          <a:noFill/>
        </p:spPr>
        <p:txBody>
          <a:bodyPr wrap="square" lIns="0" rIns="0" tIns="0" bIns="0" anchor="t">
            <a:spAutoFit/>
          </a:bodyPr>
          <a:lstStyle/>
          <a:p>
            <a:pPr algn="ctr">
              <a:lnSpc>
                <a:spcPct val="112000"/>
              </a:lnSpc>
              <a:spcBef>
                <a:spcPts val="0"/>
              </a:spcBef>
              <a:spcAft>
                <a:spcPts val="0"/>
              </a:spcAft>
              <a:defRPr sz="2200" b="1">
                <a:solidFill>
                  <a:srgbClr val="FFFFFF"/>
                </a:solidFill>
                <a:latin typeface="Segoe UI"/>
              </a:defRPr>
            </a:pPr>
            <a:r>
              <a:t>1</a:t>
            </a:r>
          </a:p>
        </p:txBody>
      </p:sp>
      <p:sp>
        <p:nvSpPr>
          <p:cNvPr id="18" name="TextBox 17"/>
          <p:cNvSpPr txBox="1"/>
          <p:nvPr/>
        </p:nvSpPr>
        <p:spPr>
          <a:xfrm>
            <a:off x="2774289" y="4041648"/>
            <a:ext cx="672998" cy="384048"/>
          </a:xfrm>
          <a:prstGeom prst="rect">
            <a:avLst/>
          </a:prstGeom>
          <a:noFill/>
        </p:spPr>
        <p:txBody>
          <a:bodyPr wrap="square" lIns="0" rIns="0" tIns="0" bIns="0" anchor="t">
            <a:spAutoFit/>
          </a:bodyPr>
          <a:lstStyle/>
          <a:p>
            <a:pPr algn="ctr">
              <a:lnSpc>
                <a:spcPct val="112000"/>
              </a:lnSpc>
              <a:spcBef>
                <a:spcPts val="0"/>
              </a:spcBef>
              <a:spcAft>
                <a:spcPts val="0"/>
              </a:spcAft>
              <a:defRPr sz="2200" b="1">
                <a:solidFill>
                  <a:srgbClr val="FFFFFF"/>
                </a:solidFill>
                <a:latin typeface="Segoe UI"/>
              </a:defRPr>
            </a:pPr>
            <a:r>
              <a:t>2</a:t>
            </a:r>
          </a:p>
        </p:txBody>
      </p:sp>
      <p:sp>
        <p:nvSpPr>
          <p:cNvPr id="19" name="TextBox 18"/>
          <p:cNvSpPr txBox="1"/>
          <p:nvPr/>
        </p:nvSpPr>
        <p:spPr>
          <a:xfrm>
            <a:off x="3447287" y="4041648"/>
            <a:ext cx="588873" cy="384048"/>
          </a:xfrm>
          <a:prstGeom prst="rect">
            <a:avLst/>
          </a:prstGeom>
          <a:noFill/>
        </p:spPr>
        <p:txBody>
          <a:bodyPr wrap="square" lIns="0" rIns="0" tIns="0" bIns="0" anchor="t">
            <a:spAutoFit/>
          </a:bodyPr>
          <a:lstStyle/>
          <a:p>
            <a:pPr algn="ctr">
              <a:lnSpc>
                <a:spcPct val="112000"/>
              </a:lnSpc>
              <a:spcBef>
                <a:spcPts val="0"/>
              </a:spcBef>
              <a:spcAft>
                <a:spcPts val="0"/>
              </a:spcAft>
              <a:defRPr sz="2200" b="1">
                <a:solidFill>
                  <a:srgbClr val="FFFFFF"/>
                </a:solidFill>
                <a:latin typeface="Segoe UI"/>
              </a:defRPr>
            </a:pPr>
            <a:r>
              <a:t>3</a:t>
            </a:r>
          </a:p>
        </p:txBody>
      </p:sp>
      <p:sp>
        <p:nvSpPr>
          <p:cNvPr id="20" name="TextBox 19"/>
          <p:cNvSpPr txBox="1"/>
          <p:nvPr/>
        </p:nvSpPr>
        <p:spPr>
          <a:xfrm>
            <a:off x="886968" y="5806440"/>
            <a:ext cx="5303520" cy="246888"/>
          </a:xfrm>
          <a:prstGeom prst="rect">
            <a:avLst/>
          </a:prstGeom>
          <a:noFill/>
        </p:spPr>
        <p:txBody>
          <a:bodyPr wrap="square" lIns="0" rIns="0" tIns="0" bIns="0" anchor="t">
            <a:spAutoFit/>
          </a:bodyPr>
          <a:lstStyle/>
          <a:p>
            <a:pPr algn="l">
              <a:lnSpc>
                <a:spcPct val="112000"/>
              </a:lnSpc>
              <a:spcBef>
                <a:spcPts val="0"/>
              </a:spcBef>
              <a:spcAft>
                <a:spcPts val="0"/>
              </a:spcAft>
              <a:defRPr sz="1200" b="0">
                <a:solidFill>
                  <a:srgbClr val="61727C"/>
                </a:solidFill>
                <a:latin typeface="Segoe UI"/>
              </a:defRPr>
            </a:pPr>
            <a:r>
              <a:t>Фрагмент вида сверху · передняя сторона ↑</a:t>
            </a:r>
          </a:p>
        </p:txBody>
      </p:sp>
      <p:sp>
        <p:nvSpPr>
          <p:cNvPr id="21" name="Oval 20"/>
          <p:cNvSpPr/>
          <p:nvPr/>
        </p:nvSpPr>
        <p:spPr>
          <a:xfrm>
            <a:off x="4745736" y="4050791"/>
            <a:ext cx="228600" cy="22860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9784" y="4023359"/>
            <a:ext cx="1828800" cy="320040"/>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83342"/>
                </a:solidFill>
                <a:latin typeface="Segoe UI"/>
              </a:defRPr>
            </a:pPr>
            <a:r>
              <a:t>Чайник</a:t>
            </a:r>
          </a:p>
        </p:txBody>
      </p:sp>
      <p:sp>
        <p:nvSpPr>
          <p:cNvPr id="23" name="Oval 22"/>
          <p:cNvSpPr/>
          <p:nvPr/>
        </p:nvSpPr>
        <p:spPr>
          <a:xfrm>
            <a:off x="4745736" y="4562856"/>
            <a:ext cx="228600" cy="228600"/>
          </a:xfrm>
          <a:prstGeom prst="ellipse">
            <a:avLst/>
          </a:pr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9784" y="4535424"/>
            <a:ext cx="1828800" cy="320040"/>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83342"/>
                </a:solidFill>
                <a:latin typeface="Segoe UI"/>
              </a:defRPr>
            </a:pPr>
            <a:r>
              <a:t>Фильтры</a:t>
            </a:r>
          </a:p>
        </p:txBody>
      </p:sp>
      <p:sp>
        <p:nvSpPr>
          <p:cNvPr id="25" name="Oval 24"/>
          <p:cNvSpPr/>
          <p:nvPr/>
        </p:nvSpPr>
        <p:spPr>
          <a:xfrm>
            <a:off x="4745736" y="5074920"/>
            <a:ext cx="228600" cy="228600"/>
          </a:xfrm>
          <a:prstGeom prst="ellipse">
            <a:avLst/>
          </a:prstGeom>
          <a:solidFill>
            <a:srgbClr val="EAB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9784" y="5047488"/>
            <a:ext cx="1828800" cy="320040"/>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83342"/>
                </a:solidFill>
                <a:latin typeface="Segoe UI"/>
              </a:defRPr>
            </a:pPr>
            <a:r>
              <a:t>Термос</a:t>
            </a:r>
          </a:p>
        </p:txBody>
      </p:sp>
      <p:sp>
        <p:nvSpPr>
          <p:cNvPr id="27" name="Rounded Rectangle 26"/>
          <p:cNvSpPr/>
          <p:nvPr/>
        </p:nvSpPr>
        <p:spPr>
          <a:xfrm>
            <a:off x="7498079" y="2651760"/>
            <a:ext cx="4142232" cy="3529584"/>
          </a:xfrm>
          <a:prstGeom prst="roundRect">
            <a:avLst>
              <a:gd name="adj" fmla="val 12000"/>
            </a:avLst>
          </a:prstGeom>
          <a:solidFill>
            <a:srgbClr val="17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54112" y="2889504"/>
            <a:ext cx="1965960" cy="320040"/>
          </a:xfrm>
          <a:prstGeom prst="roundRect">
            <a:avLst>
              <a:gd name="adj" fmla="val 12000"/>
            </a:avLst>
          </a:prstGeom>
          <a:solidFill>
            <a:srgbClr val="2F4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45552" y="2921508"/>
            <a:ext cx="1783080" cy="237744"/>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A7E4DA"/>
                </a:solidFill>
                <a:latin typeface="Segoe UI"/>
              </a:defRPr>
            </a:pPr>
            <a:r>
              <a:t>ШАГ 2 / ФИЛЬТРЫ</a:t>
            </a:r>
          </a:p>
        </p:txBody>
      </p:sp>
      <p:sp>
        <p:nvSpPr>
          <p:cNvPr id="30" name="TextBox 29"/>
          <p:cNvSpPr txBox="1"/>
          <p:nvPr/>
        </p:nvSpPr>
        <p:spPr>
          <a:xfrm>
            <a:off x="7763256" y="3566160"/>
            <a:ext cx="3611880" cy="960120"/>
          </a:xfrm>
          <a:prstGeom prst="rect">
            <a:avLst/>
          </a:prstGeom>
          <a:noFill/>
        </p:spPr>
        <p:txBody>
          <a:bodyPr wrap="square" lIns="0" rIns="0" tIns="0" bIns="0" anchor="t">
            <a:spAutoFit/>
          </a:bodyPr>
          <a:lstStyle/>
          <a:p>
            <a:pPr algn="l">
              <a:lnSpc>
                <a:spcPct val="112000"/>
              </a:lnSpc>
              <a:spcBef>
                <a:spcPts val="0"/>
              </a:spcBef>
              <a:spcAft>
                <a:spcPts val="0"/>
              </a:spcAft>
              <a:defRPr sz="2300" b="1">
                <a:solidFill>
                  <a:srgbClr val="FFFFFF"/>
                </a:solidFill>
                <a:latin typeface="Segoe UI"/>
              </a:defRPr>
            </a:pPr>
            <a:r>
              <a:t>Поверните и положите</a:t>
            </a:r>
          </a:p>
          <a:p>
            <a:pPr algn="l">
              <a:lnSpc>
                <a:spcPct val="112000"/>
              </a:lnSpc>
              <a:spcBef>
                <a:spcPts val="0"/>
              </a:spcBef>
              <a:spcAft>
                <a:spcPts val="0"/>
              </a:spcAft>
              <a:defRPr sz="2300" b="1">
                <a:solidFill>
                  <a:srgbClr val="FFFFFF"/>
                </a:solidFill>
                <a:latin typeface="Segoe UI"/>
              </a:defRPr>
            </a:pPr>
            <a:r>
              <a:t>рядом с чайником</a:t>
            </a:r>
          </a:p>
        </p:txBody>
      </p:sp>
      <p:sp>
        <p:nvSpPr>
          <p:cNvPr id="31" name="TextBox 30"/>
          <p:cNvSpPr txBox="1"/>
          <p:nvPr/>
        </p:nvSpPr>
        <p:spPr>
          <a:xfrm>
            <a:off x="7772400" y="4636008"/>
            <a:ext cx="3611880" cy="621792"/>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C6D7DC"/>
                </a:solidFill>
                <a:latin typeface="Segoe UI"/>
              </a:defRPr>
            </a:pPr>
            <a:r>
              <a:t>Размер после поворота</a:t>
            </a:r>
          </a:p>
          <a:p>
            <a:pPr algn="l">
              <a:lnSpc>
                <a:spcPct val="112000"/>
              </a:lnSpc>
              <a:spcBef>
                <a:spcPts val="0"/>
              </a:spcBef>
              <a:spcAft>
                <a:spcPts val="0"/>
              </a:spcAft>
              <a:defRPr sz="1700" b="0">
                <a:solidFill>
                  <a:srgbClr val="C6D7DC"/>
                </a:solidFill>
                <a:latin typeface="Segoe UI"/>
              </a:defRPr>
            </a:pPr>
            <a:r>
              <a:t>80 × 120 × 40 мм</a:t>
            </a:r>
          </a:p>
        </p:txBody>
      </p:sp>
      <p:sp>
        <p:nvSpPr>
          <p:cNvPr id="32" name="TextBox 31"/>
          <p:cNvSpPr txBox="1"/>
          <p:nvPr/>
        </p:nvSpPr>
        <p:spPr>
          <a:xfrm>
            <a:off x="7772400" y="5449824"/>
            <a:ext cx="3611880" cy="557784"/>
          </a:xfrm>
          <a:prstGeom prst="rect">
            <a:avLst/>
          </a:prstGeom>
          <a:noFill/>
        </p:spPr>
        <p:txBody>
          <a:bodyPr wrap="square" lIns="0" rIns="0" tIns="0" bIns="0" anchor="t">
            <a:spAutoFit/>
          </a:bodyPr>
          <a:lstStyle/>
          <a:p>
            <a:pPr algn="l">
              <a:lnSpc>
                <a:spcPct val="112000"/>
              </a:lnSpc>
              <a:spcBef>
                <a:spcPts val="0"/>
              </a:spcBef>
              <a:spcAft>
                <a:spcPts val="0"/>
              </a:spcAft>
              <a:defRPr sz="1500" b="0">
                <a:solidFill>
                  <a:srgbClr val="C6D7DC"/>
                </a:solidFill>
                <a:latin typeface="Segoe UI"/>
              </a:defRPr>
            </a:pPr>
            <a:r>
              <a:t>Координаты от угла коробки</a:t>
            </a:r>
          </a:p>
          <a:p>
            <a:pPr algn="l">
              <a:lnSpc>
                <a:spcPct val="112000"/>
              </a:lnSpc>
              <a:spcBef>
                <a:spcPts val="0"/>
              </a:spcBef>
              <a:spcAft>
                <a:spcPts val="0"/>
              </a:spcAft>
              <a:defRPr sz="1500" b="0">
                <a:solidFill>
                  <a:srgbClr val="C6D7DC"/>
                </a:solidFill>
                <a:latin typeface="Segoe UI"/>
              </a:defRPr>
            </a:pPr>
            <a:r>
              <a:t>x = 220 · y = 0 · z = 0 мм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5"/>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07 / ДИАГНОСТИКА</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183342"/>
                </a:solidFill>
                <a:latin typeface="Segoe UI"/>
              </a:defRPr>
            </a:pPr>
            <a:r>
              <a:t>Частичный результат тоже полезен</a:t>
            </a:r>
          </a:p>
        </p:txBody>
      </p:sp>
      <p:sp>
        <p:nvSpPr>
          <p:cNvPr id="4" name="TextBox 3"/>
          <p:cNvSpPr txBox="1"/>
          <p:nvPr/>
        </p:nvSpPr>
        <p:spPr>
          <a:xfrm>
            <a:off x="548640" y="1947672"/>
            <a:ext cx="10972800" cy="512064"/>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61727C"/>
                </a:solidFill>
                <a:latin typeface="Segoe UI"/>
              </a:defRPr>
            </a:pPr>
            <a:r>
              <a:t>Сохраняем доступную укладку и объясняем, что мешает завершить заказ.</a:t>
            </a:r>
          </a:p>
        </p:txBody>
      </p:sp>
      <p:cxnSp>
        <p:nvCxnSpPr>
          <p:cNvPr id="5" name="Connector 4"/>
          <p:cNvCxnSpPr/>
          <p:nvPr/>
        </p:nvCxnSpPr>
        <p:spPr>
          <a:xfrm>
            <a:off x="548640" y="6473952"/>
            <a:ext cx="11091672" cy="0"/>
          </a:xfrm>
          <a:prstGeom prst="line">
            <a:avLst/>
          </a:prstGeom>
          <a:ln w="8890">
            <a:solidFill>
              <a:srgbClr val="DCE5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61727C"/>
                </a:solidFill>
                <a:latin typeface="Segoe UI"/>
              </a:defRPr>
            </a:pPr>
            <a:r>
              <a:t>DunCarBox</a:t>
            </a:r>
          </a:p>
        </p:txBody>
      </p:sp>
      <p:sp>
        <p:nvSpPr>
          <p:cNvPr id="7" name="TextBox 6"/>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61727C"/>
                </a:solidFill>
                <a:latin typeface="Segoe UI"/>
              </a:defRPr>
            </a:pPr>
            <a:r>
              <a:t>ХАКАТОН / 2026</a:t>
            </a:r>
          </a:p>
        </p:txBody>
      </p:sp>
      <p:sp>
        <p:nvSpPr>
          <p:cNvPr id="8" name="TextBox 7"/>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61727C"/>
                </a:solidFill>
                <a:latin typeface="Segoe UI"/>
              </a:defRPr>
            </a:pPr>
            <a:r>
              <a:t>07</a:t>
            </a:r>
          </a:p>
        </p:txBody>
      </p:sp>
      <p:sp>
        <p:nvSpPr>
          <p:cNvPr id="9" name="Rounded Rectangle 8"/>
          <p:cNvSpPr/>
          <p:nvPr/>
        </p:nvSpPr>
        <p:spPr>
          <a:xfrm>
            <a:off x="548640" y="2670048"/>
            <a:ext cx="4892040" cy="3493008"/>
          </a:xfrm>
          <a:prstGeom prst="roundRect">
            <a:avLst>
              <a:gd name="adj" fmla="val 12000"/>
            </a:avLst>
          </a:prstGeom>
          <a:solidFill>
            <a:srgbClr val="17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6" y="2916936"/>
            <a:ext cx="3063240" cy="320040"/>
          </a:xfrm>
          <a:prstGeom prst="roundRect">
            <a:avLst>
              <a:gd name="adj" fmla="val 12000"/>
            </a:avLst>
          </a:prstGeom>
          <a:solidFill>
            <a:srgbClr val="2F4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 y="2948940"/>
            <a:ext cx="2880360" cy="237744"/>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A7E4DA"/>
                </a:solidFill>
                <a:latin typeface="Segoe UI"/>
              </a:defRPr>
            </a:pPr>
            <a:r>
              <a:t>ДЕМО / НЕХВАТКА КОРОБОК</a:t>
            </a:r>
          </a:p>
        </p:txBody>
      </p:sp>
      <p:sp>
        <p:nvSpPr>
          <p:cNvPr id="12" name="TextBox 11"/>
          <p:cNvSpPr txBox="1"/>
          <p:nvPr/>
        </p:nvSpPr>
        <p:spPr>
          <a:xfrm>
            <a:off x="822960" y="3511296"/>
            <a:ext cx="4133087" cy="1143000"/>
          </a:xfrm>
          <a:prstGeom prst="rect">
            <a:avLst/>
          </a:prstGeom>
          <a:noFill/>
        </p:spPr>
        <p:txBody>
          <a:bodyPr wrap="square" lIns="0" rIns="0" tIns="0" bIns="0" anchor="t">
            <a:spAutoFit/>
          </a:bodyPr>
          <a:lstStyle/>
          <a:p>
            <a:pPr algn="l">
              <a:lnSpc>
                <a:spcPct val="112000"/>
              </a:lnSpc>
              <a:spcBef>
                <a:spcPts val="0"/>
              </a:spcBef>
              <a:spcAft>
                <a:spcPts val="0"/>
              </a:spcAft>
              <a:defRPr sz="7200" b="1">
                <a:solidFill>
                  <a:srgbClr val="FFFFFF"/>
                </a:solidFill>
                <a:latin typeface="Segoe UI"/>
              </a:defRPr>
            </a:pPr>
            <a:r>
              <a:t>1 / 3</a:t>
            </a:r>
          </a:p>
        </p:txBody>
      </p:sp>
      <p:sp>
        <p:nvSpPr>
          <p:cNvPr id="13" name="TextBox 12"/>
          <p:cNvSpPr txBox="1"/>
          <p:nvPr/>
        </p:nvSpPr>
        <p:spPr>
          <a:xfrm>
            <a:off x="868680" y="4700016"/>
            <a:ext cx="3977639" cy="457200"/>
          </a:xfrm>
          <a:prstGeom prst="rect">
            <a:avLst/>
          </a:prstGeom>
          <a:noFill/>
        </p:spPr>
        <p:txBody>
          <a:bodyPr wrap="square" lIns="0" rIns="0" tIns="0" bIns="0" anchor="t">
            <a:spAutoFit/>
          </a:bodyPr>
          <a:lstStyle/>
          <a:p>
            <a:pPr algn="l">
              <a:lnSpc>
                <a:spcPct val="112000"/>
              </a:lnSpc>
              <a:spcBef>
                <a:spcPts val="0"/>
              </a:spcBef>
              <a:spcAft>
                <a:spcPts val="0"/>
              </a:spcAft>
              <a:defRPr sz="2500" b="0">
                <a:solidFill>
                  <a:srgbClr val="FFFFFF"/>
                </a:solidFill>
                <a:latin typeface="Segoe UI"/>
              </a:defRPr>
            </a:pPr>
            <a:r>
              <a:t>наборов упаковано</a:t>
            </a:r>
          </a:p>
        </p:txBody>
      </p:sp>
      <p:sp>
        <p:nvSpPr>
          <p:cNvPr id="14" name="TextBox 13"/>
          <p:cNvSpPr txBox="1"/>
          <p:nvPr/>
        </p:nvSpPr>
        <p:spPr>
          <a:xfrm>
            <a:off x="877824" y="5376672"/>
            <a:ext cx="4169663" cy="576072"/>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C6D7DC"/>
                </a:solidFill>
                <a:latin typeface="Segoe UI"/>
              </a:defRPr>
            </a:pPr>
            <a:r>
              <a:t>Одна коробка S использована.</a:t>
            </a:r>
          </a:p>
          <a:p>
            <a:pPr algn="l">
              <a:lnSpc>
                <a:spcPct val="112000"/>
              </a:lnSpc>
              <a:spcBef>
                <a:spcPts val="0"/>
              </a:spcBef>
              <a:spcAft>
                <a:spcPts val="0"/>
              </a:spcAft>
              <a:defRPr sz="1600" b="0">
                <a:solidFill>
                  <a:srgbClr val="C6D7DC"/>
                </a:solidFill>
                <a:latin typeface="Segoe UI"/>
              </a:defRPr>
            </a:pPr>
            <a:r>
              <a:t>Для двух наборов коробок не хватает.</a:t>
            </a:r>
          </a:p>
        </p:txBody>
      </p:sp>
      <p:sp>
        <p:nvSpPr>
          <p:cNvPr id="15" name="TextBox 14"/>
          <p:cNvSpPr txBox="1"/>
          <p:nvPr/>
        </p:nvSpPr>
        <p:spPr>
          <a:xfrm>
            <a:off x="5852160" y="2798064"/>
            <a:ext cx="5513832" cy="457200"/>
          </a:xfrm>
          <a:prstGeom prst="rect">
            <a:avLst/>
          </a:prstGeom>
          <a:noFill/>
        </p:spPr>
        <p:txBody>
          <a:bodyPr wrap="square" lIns="0" rIns="0" tIns="0" bIns="0" anchor="t">
            <a:spAutoFit/>
          </a:bodyPr>
          <a:lstStyle/>
          <a:p>
            <a:pPr algn="l">
              <a:lnSpc>
                <a:spcPct val="112000"/>
              </a:lnSpc>
              <a:spcBef>
                <a:spcPts val="0"/>
              </a:spcBef>
              <a:spcAft>
                <a:spcPts val="0"/>
              </a:spcAft>
              <a:defRPr sz="2400" b="1">
                <a:solidFill>
                  <a:srgbClr val="183342"/>
                </a:solidFill>
                <a:latin typeface="Segoe UI"/>
              </a:defRPr>
            </a:pPr>
            <a:r>
              <a:t>Понятные причины</a:t>
            </a:r>
          </a:p>
        </p:txBody>
      </p:sp>
      <p:sp>
        <p:nvSpPr>
          <p:cNvPr id="16" name="Oval 15"/>
          <p:cNvSpPr/>
          <p:nvPr/>
        </p:nvSpPr>
        <p:spPr>
          <a:xfrm>
            <a:off x="5870448" y="3648456"/>
            <a:ext cx="109728" cy="109728"/>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9632" y="3557016"/>
            <a:ext cx="5166360" cy="384048"/>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183342"/>
                </a:solidFill>
                <a:latin typeface="Segoe UI"/>
              </a:defRPr>
            </a:pPr>
            <a:r>
              <a:t>Не подходят размеры</a:t>
            </a:r>
          </a:p>
        </p:txBody>
      </p:sp>
      <p:sp>
        <p:nvSpPr>
          <p:cNvPr id="18" name="Oval 17"/>
          <p:cNvSpPr/>
          <p:nvPr/>
        </p:nvSpPr>
        <p:spPr>
          <a:xfrm>
            <a:off x="5870448" y="4087368"/>
            <a:ext cx="109728" cy="109728"/>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9632" y="3995928"/>
            <a:ext cx="5166360" cy="384048"/>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183342"/>
                </a:solidFill>
                <a:latin typeface="Segoe UI"/>
              </a:defRPr>
            </a:pPr>
            <a:r>
              <a:t>Превышен допустимый вес</a:t>
            </a:r>
          </a:p>
        </p:txBody>
      </p:sp>
      <p:sp>
        <p:nvSpPr>
          <p:cNvPr id="20" name="Oval 19"/>
          <p:cNvSpPr/>
          <p:nvPr/>
        </p:nvSpPr>
        <p:spPr>
          <a:xfrm>
            <a:off x="5870448" y="4526279"/>
            <a:ext cx="109728" cy="109728"/>
          </a:xfrm>
          <a:prstGeom prst="ellipse">
            <a:avLst/>
          </a:pr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9632" y="4434840"/>
            <a:ext cx="5166360" cy="384048"/>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183342"/>
                </a:solidFill>
                <a:latin typeface="Segoe UI"/>
              </a:defRPr>
            </a:pPr>
            <a:r>
              <a:t>Исчерпан остаток коробок</a:t>
            </a:r>
          </a:p>
        </p:txBody>
      </p:sp>
      <p:sp>
        <p:nvSpPr>
          <p:cNvPr id="22" name="Oval 21"/>
          <p:cNvSpPr/>
          <p:nvPr/>
        </p:nvSpPr>
        <p:spPr>
          <a:xfrm>
            <a:off x="5870448" y="4965192"/>
            <a:ext cx="109728" cy="109728"/>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9632" y="4873752"/>
            <a:ext cx="5166360" cy="384048"/>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183342"/>
                </a:solidFill>
                <a:latin typeface="Segoe UI"/>
              </a:defRPr>
            </a:pPr>
            <a:r>
              <a:t>Размещение не найдено при ограничениях</a:t>
            </a:r>
          </a:p>
        </p:txBody>
      </p:sp>
      <p:sp>
        <p:nvSpPr>
          <p:cNvPr id="24" name="Rounded Rectangle 23"/>
          <p:cNvSpPr/>
          <p:nvPr/>
        </p:nvSpPr>
        <p:spPr>
          <a:xfrm>
            <a:off x="5852160" y="5641848"/>
            <a:ext cx="5788152" cy="521207"/>
          </a:xfrm>
          <a:prstGeom prst="roundRect">
            <a:avLst>
              <a:gd name="adj" fmla="val 12000"/>
            </a:avLst>
          </a:prstGeom>
          <a:solidFill>
            <a:srgbClr val="E4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44184" y="5760720"/>
            <a:ext cx="5413248" cy="265176"/>
          </a:xfrm>
          <a:prstGeom prst="rect">
            <a:avLst/>
          </a:prstGeom>
          <a:noFill/>
        </p:spPr>
        <p:txBody>
          <a:bodyPr wrap="square" lIns="0" rIns="0" tIns="0" bIns="0" anchor="t">
            <a:spAutoFit/>
          </a:bodyPr>
          <a:lstStyle/>
          <a:p>
            <a:pPr algn="l">
              <a:lnSpc>
                <a:spcPct val="112000"/>
              </a:lnSpc>
              <a:spcBef>
                <a:spcPts val="0"/>
              </a:spcBef>
              <a:spcAft>
                <a:spcPts val="0"/>
              </a:spcAft>
              <a:defRPr sz="1400" b="1">
                <a:solidFill>
                  <a:srgbClr val="087F8C"/>
                </a:solidFill>
                <a:latin typeface="Segoe UI"/>
              </a:defRPr>
            </a:pPr>
            <a:r>
              <a:t>Список неупакованных товаров можно свернуть.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5"/>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08 / АРХИТЕКТУРА</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183342"/>
                </a:solidFill>
                <a:latin typeface="Segoe UI"/>
              </a:defRPr>
            </a:pPr>
            <a:r>
              <a:t>Одно ядро расчёта, два способа поиска</a:t>
            </a:r>
          </a:p>
        </p:txBody>
      </p:sp>
      <p:sp>
        <p:nvSpPr>
          <p:cNvPr id="4" name="TextBox 3"/>
          <p:cNvSpPr txBox="1"/>
          <p:nvPr/>
        </p:nvSpPr>
        <p:spPr>
          <a:xfrm>
            <a:off x="548640" y="1947672"/>
            <a:ext cx="10972800" cy="512064"/>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61727C"/>
                </a:solidFill>
                <a:latin typeface="Segoe UI"/>
              </a:defRPr>
            </a:pPr>
            <a:r>
              <a:t>Контракт размещений общий для API, алгоритмов и визуализации.</a:t>
            </a:r>
          </a:p>
        </p:txBody>
      </p:sp>
      <p:cxnSp>
        <p:nvCxnSpPr>
          <p:cNvPr id="5" name="Connector 4"/>
          <p:cNvCxnSpPr/>
          <p:nvPr/>
        </p:nvCxnSpPr>
        <p:spPr>
          <a:xfrm>
            <a:off x="548640" y="6473952"/>
            <a:ext cx="11091672" cy="0"/>
          </a:xfrm>
          <a:prstGeom prst="line">
            <a:avLst/>
          </a:prstGeom>
          <a:ln w="8890">
            <a:solidFill>
              <a:srgbClr val="DCE5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61727C"/>
                </a:solidFill>
                <a:latin typeface="Segoe UI"/>
              </a:defRPr>
            </a:pPr>
            <a:r>
              <a:t>DunCarBox</a:t>
            </a:r>
          </a:p>
        </p:txBody>
      </p:sp>
      <p:sp>
        <p:nvSpPr>
          <p:cNvPr id="7" name="TextBox 6"/>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61727C"/>
                </a:solidFill>
                <a:latin typeface="Segoe UI"/>
              </a:defRPr>
            </a:pPr>
            <a:r>
              <a:t>ХАКАТОН / 2026</a:t>
            </a:r>
          </a:p>
        </p:txBody>
      </p:sp>
      <p:sp>
        <p:nvSpPr>
          <p:cNvPr id="8" name="TextBox 7"/>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61727C"/>
                </a:solidFill>
                <a:latin typeface="Segoe UI"/>
              </a:defRPr>
            </a:pPr>
            <a:r>
              <a:t>08</a:t>
            </a:r>
          </a:p>
        </p:txBody>
      </p:sp>
      <p:sp>
        <p:nvSpPr>
          <p:cNvPr id="9" name="Rounded Rectangle 8"/>
          <p:cNvSpPr/>
          <p:nvPr/>
        </p:nvSpPr>
        <p:spPr>
          <a:xfrm>
            <a:off x="548640" y="2679192"/>
            <a:ext cx="3090672" cy="1709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79192"/>
            <a:ext cx="50292" cy="17099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935224"/>
            <a:ext cx="2587752"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React + TypeScript</a:t>
            </a:r>
          </a:p>
        </p:txBody>
      </p:sp>
      <p:sp>
        <p:nvSpPr>
          <p:cNvPr id="12" name="TextBox 11"/>
          <p:cNvSpPr txBox="1"/>
          <p:nvPr/>
        </p:nvSpPr>
        <p:spPr>
          <a:xfrm>
            <a:off x="804672" y="3685032"/>
            <a:ext cx="2587752" cy="576072"/>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Формы · Three.js · шаги</a:t>
            </a:r>
          </a:p>
          <a:p>
            <a:pPr algn="l">
              <a:lnSpc>
                <a:spcPct val="112000"/>
              </a:lnSpc>
              <a:spcBef>
                <a:spcPts val="0"/>
              </a:spcBef>
              <a:spcAft>
                <a:spcPts val="0"/>
              </a:spcAft>
              <a:defRPr sz="1600" b="0">
                <a:solidFill>
                  <a:srgbClr val="61727C"/>
                </a:solidFill>
                <a:latin typeface="Segoe UI"/>
              </a:defRPr>
            </a:pPr>
            <a:r>
              <a:t>Vite</a:t>
            </a:r>
          </a:p>
        </p:txBody>
      </p:sp>
      <p:sp>
        <p:nvSpPr>
          <p:cNvPr id="13" name="Rounded Rectangle 12"/>
          <p:cNvSpPr/>
          <p:nvPr/>
        </p:nvSpPr>
        <p:spPr>
          <a:xfrm>
            <a:off x="4197096" y="2679192"/>
            <a:ext cx="3456432" cy="1709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7096" y="2679192"/>
            <a:ext cx="50292" cy="170992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2935224"/>
            <a:ext cx="2953511"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FastAPI / Python</a:t>
            </a:r>
          </a:p>
        </p:txBody>
      </p:sp>
      <p:sp>
        <p:nvSpPr>
          <p:cNvPr id="16" name="TextBox 15"/>
          <p:cNvSpPr txBox="1"/>
          <p:nvPr/>
        </p:nvSpPr>
        <p:spPr>
          <a:xfrm>
            <a:off x="4453128" y="3685032"/>
            <a:ext cx="2953511" cy="576072"/>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Проверка запроса</a:t>
            </a:r>
          </a:p>
          <a:p>
            <a:pPr algn="l">
              <a:lnSpc>
                <a:spcPct val="112000"/>
              </a:lnSpc>
              <a:spcBef>
                <a:spcPts val="0"/>
              </a:spcBef>
              <a:spcAft>
                <a:spcPts val="0"/>
              </a:spcAft>
              <a:defRPr sz="1600" b="0">
                <a:solidFill>
                  <a:srgbClr val="61727C"/>
                </a:solidFill>
                <a:latin typeface="Segoe UI"/>
              </a:defRPr>
            </a:pPr>
            <a:r>
              <a:t>Фоновые задачи и отмена</a:t>
            </a:r>
          </a:p>
        </p:txBody>
      </p:sp>
      <p:sp>
        <p:nvSpPr>
          <p:cNvPr id="17" name="Rounded Rectangle 16"/>
          <p:cNvSpPr/>
          <p:nvPr/>
        </p:nvSpPr>
        <p:spPr>
          <a:xfrm>
            <a:off x="8211312" y="2679192"/>
            <a:ext cx="3429000" cy="1709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11312" y="2679192"/>
            <a:ext cx="50292" cy="1709928"/>
          </a:xfrm>
          <a:prstGeom prst="rect">
            <a:avLst/>
          </a:prstGeom>
          <a:solidFill>
            <a:srgbClr val="EF7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67344" y="2935224"/>
            <a:ext cx="2926080" cy="612648"/>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83342"/>
                </a:solidFill>
                <a:latin typeface="Segoe UI"/>
              </a:defRPr>
            </a:pPr>
            <a:r>
              <a:t>Движки упаковки</a:t>
            </a:r>
          </a:p>
        </p:txBody>
      </p:sp>
      <p:sp>
        <p:nvSpPr>
          <p:cNvPr id="20" name="TextBox 19"/>
          <p:cNvSpPr txBox="1"/>
          <p:nvPr/>
        </p:nvSpPr>
        <p:spPr>
          <a:xfrm>
            <a:off x="8467344" y="3685032"/>
            <a:ext cx="2926080" cy="576072"/>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61727C"/>
                </a:solidFill>
                <a:latin typeface="Segoe UI"/>
              </a:defRPr>
            </a:pPr>
            <a:r>
              <a:t>Эвристика / Z3</a:t>
            </a:r>
          </a:p>
          <a:p>
            <a:pPr algn="l">
              <a:lnSpc>
                <a:spcPct val="112000"/>
              </a:lnSpc>
              <a:spcBef>
                <a:spcPts val="0"/>
              </a:spcBef>
              <a:spcAft>
                <a:spcPts val="0"/>
              </a:spcAft>
              <a:defRPr sz="1600" b="0">
                <a:solidFill>
                  <a:srgbClr val="61727C"/>
                </a:solidFill>
                <a:latin typeface="Segoe UI"/>
              </a:defRPr>
            </a:pPr>
            <a:r>
              <a:t>Отдельные процессы</a:t>
            </a:r>
          </a:p>
        </p:txBody>
      </p:sp>
      <p:sp>
        <p:nvSpPr>
          <p:cNvPr id="21" name="Freeform 20"/>
          <p:cNvSpPr/>
          <p:nvPr/>
        </p:nvSpPr>
        <p:spPr>
          <a:xfrm>
            <a:off x="3657600" y="3657600"/>
            <a:ext cx="0" cy="0"/>
          </a:xfrm>
          <a:custGeom>
            <a:avLst/>
            <a:gdLst/>
            <a:ahLst/>
            <a:cxnLst/>
            <a:rect l="l" t="t" r="r" b="b"/>
            <a:pathLst>
              <a:path w="0" h="0">
                <a:moveTo>
                  <a:pt x="0" y="0"/>
                </a:moveTo>
                <a:lnTo>
                  <a:pt x="0" y="0"/>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8229600" y="3657600"/>
            <a:ext cx="0" cy="0"/>
          </a:xfrm>
          <a:custGeom>
            <a:avLst/>
            <a:gdLst/>
            <a:ahLst/>
            <a:cxnLst/>
            <a:rect l="l" t="t" r="r" b="b"/>
            <a:pathLst>
              <a:path w="0" h="0">
                <a:moveTo>
                  <a:pt x="0" y="0"/>
                </a:moveTo>
                <a:lnTo>
                  <a:pt x="0" y="0"/>
                </a:lnTo>
                <a:lnTo>
                  <a:pt x="0" y="0"/>
                </a:lnTo>
                <a:close/>
              </a:path>
            </a:pathLst>
          </a:cu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197096" y="4809744"/>
            <a:ext cx="3456432" cy="1197864"/>
          </a:xfrm>
          <a:prstGeom prst="roundRect">
            <a:avLst>
              <a:gd name="adj" fmla="val 12000"/>
            </a:avLst>
          </a:prstGeom>
          <a:solidFill>
            <a:srgbClr val="E4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62272" y="5010912"/>
            <a:ext cx="2926080" cy="356616"/>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087F8C"/>
                </a:solidFill>
                <a:latin typeface="Segoe UI"/>
              </a:defRPr>
            </a:pPr>
            <a:r>
              <a:t>PostgreSQL 17</a:t>
            </a:r>
          </a:p>
        </p:txBody>
      </p:sp>
      <p:sp>
        <p:nvSpPr>
          <p:cNvPr id="25" name="TextBox 24"/>
          <p:cNvSpPr txBox="1"/>
          <p:nvPr/>
        </p:nvSpPr>
        <p:spPr>
          <a:xfrm>
            <a:off x="4462272" y="5486400"/>
            <a:ext cx="2926080" cy="292608"/>
          </a:xfrm>
          <a:prstGeom prst="rect">
            <a:avLst/>
          </a:prstGeom>
          <a:noFill/>
        </p:spPr>
        <p:txBody>
          <a:bodyPr wrap="square" lIns="0" rIns="0" tIns="0" bIns="0" anchor="t">
            <a:spAutoFit/>
          </a:bodyPr>
          <a:lstStyle/>
          <a:p>
            <a:pPr algn="l">
              <a:lnSpc>
                <a:spcPct val="112000"/>
              </a:lnSpc>
              <a:spcBef>
                <a:spcPts val="0"/>
              </a:spcBef>
              <a:spcAft>
                <a:spcPts val="0"/>
              </a:spcAft>
              <a:defRPr sz="1500" b="0">
                <a:solidFill>
                  <a:srgbClr val="61727C"/>
                </a:solidFill>
                <a:latin typeface="Segoe UI"/>
              </a:defRPr>
            </a:pPr>
            <a:r>
              <a:t>Каталог коробок и остатки</a:t>
            </a:r>
          </a:p>
        </p:txBody>
      </p:sp>
      <p:cxnSp>
        <p:nvCxnSpPr>
          <p:cNvPr id="26" name="Connector 25"/>
          <p:cNvCxnSpPr/>
          <p:nvPr/>
        </p:nvCxnSpPr>
        <p:spPr>
          <a:xfrm>
            <a:off x="5925312" y="4398264"/>
            <a:ext cx="0" cy="402336"/>
          </a:xfrm>
          <a:prstGeom prst="line">
            <a:avLst/>
          </a:prstGeom>
          <a:ln w="22860">
            <a:solidFill>
              <a:srgbClr val="087F8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211312" y="4809744"/>
            <a:ext cx="3429000" cy="1197864"/>
          </a:xfrm>
          <a:prstGeom prst="roundRect">
            <a:avLst>
              <a:gd name="adj" fmla="val 12000"/>
            </a:avLst>
          </a:prstGeom>
          <a:solidFill>
            <a:srgbClr val="17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30768" y="4992624"/>
            <a:ext cx="3026664" cy="356616"/>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FFFFFF"/>
                </a:solidFill>
                <a:latin typeface="Segoe UI"/>
              </a:defRPr>
            </a:pPr>
            <a:r>
              <a:t>Проверка + инструкции</a:t>
            </a:r>
          </a:p>
        </p:txBody>
      </p:sp>
      <p:sp>
        <p:nvSpPr>
          <p:cNvPr id="29" name="TextBox 28"/>
          <p:cNvSpPr txBox="1"/>
          <p:nvPr/>
        </p:nvSpPr>
        <p:spPr>
          <a:xfrm>
            <a:off x="8430768" y="5477256"/>
            <a:ext cx="3026664" cy="301752"/>
          </a:xfrm>
          <a:prstGeom prst="rect">
            <a:avLst/>
          </a:prstGeom>
          <a:noFill/>
        </p:spPr>
        <p:txBody>
          <a:bodyPr wrap="square" lIns="0" rIns="0" tIns="0" bIns="0" anchor="t">
            <a:spAutoFit/>
          </a:bodyPr>
          <a:lstStyle/>
          <a:p>
            <a:pPr algn="l">
              <a:lnSpc>
                <a:spcPct val="112000"/>
              </a:lnSpc>
              <a:spcBef>
                <a:spcPts val="0"/>
              </a:spcBef>
              <a:spcAft>
                <a:spcPts val="0"/>
              </a:spcAft>
              <a:defRPr sz="1450" b="0">
                <a:solidFill>
                  <a:srgbClr val="C6D7DC"/>
                </a:solidFill>
                <a:latin typeface="Segoe UI"/>
              </a:defRPr>
            </a:pPr>
            <a:r>
              <a:t>Из фактических размещений</a:t>
            </a:r>
          </a:p>
        </p:txBody>
      </p:sp>
      <p:cxnSp>
        <p:nvCxnSpPr>
          <p:cNvPr id="30" name="Connector 29"/>
          <p:cNvCxnSpPr/>
          <p:nvPr/>
        </p:nvCxnSpPr>
        <p:spPr>
          <a:xfrm>
            <a:off x="9930384" y="4398264"/>
            <a:ext cx="0" cy="402336"/>
          </a:xfrm>
          <a:prstGeom prst="line">
            <a:avLst/>
          </a:prstGeom>
          <a:ln w="22860">
            <a:solidFill>
              <a:srgbClr val="087F8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76072" y="4946904"/>
            <a:ext cx="2834640" cy="265176"/>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C"/>
                </a:solidFill>
                <a:latin typeface="Segoe UI"/>
              </a:defRPr>
            </a:pPr>
            <a:r>
              <a:t>РАЗВЁРТЫВАНИЕ</a:t>
            </a:r>
          </a:p>
        </p:txBody>
      </p:sp>
      <p:sp>
        <p:nvSpPr>
          <p:cNvPr id="32" name="TextBox 31"/>
          <p:cNvSpPr txBox="1"/>
          <p:nvPr/>
        </p:nvSpPr>
        <p:spPr>
          <a:xfrm>
            <a:off x="576072" y="5422392"/>
            <a:ext cx="3236976" cy="640080"/>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183342"/>
                </a:solidFill>
                <a:latin typeface="Segoe UI"/>
              </a:defRPr>
            </a:pPr>
            <a:r>
              <a:t>Docker Compose</a:t>
            </a:r>
          </a:p>
          <a:p>
            <a:pPr algn="l">
              <a:lnSpc>
                <a:spcPct val="112000"/>
              </a:lnSpc>
              <a:spcBef>
                <a:spcPts val="0"/>
              </a:spcBef>
              <a:spcAft>
                <a:spcPts val="0"/>
              </a:spcAft>
              <a:defRPr sz="1800" b="0">
                <a:solidFill>
                  <a:srgbClr val="183342"/>
                </a:solidFill>
                <a:latin typeface="Segoe UI"/>
              </a:defRPr>
            </a:pPr>
            <a:r>
              <a:t>Серверный контур: k3d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5"/>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C"/>
                </a:solidFill>
                <a:latin typeface="Segoe UI"/>
              </a:defRPr>
            </a:pPr>
            <a:r>
              <a:t>09 / ДЕМОНСТРАЦИЯ</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183342"/>
                </a:solidFill>
                <a:latin typeface="Segoe UI"/>
              </a:defRPr>
            </a:pPr>
            <a:r>
              <a:t>Четыре воспроизводимых сценария</a:t>
            </a:r>
          </a:p>
        </p:txBody>
      </p:sp>
      <p:sp>
        <p:nvSpPr>
          <p:cNvPr id="4" name="TextBox 3"/>
          <p:cNvSpPr txBox="1"/>
          <p:nvPr/>
        </p:nvSpPr>
        <p:spPr>
          <a:xfrm>
            <a:off x="548640" y="1947672"/>
            <a:ext cx="10972800" cy="512064"/>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61727C"/>
                </a:solidFill>
                <a:latin typeface="Segoe UI"/>
              </a:defRPr>
            </a:pPr>
            <a:r>
              <a:t>Числа ниже — готовые демо-планы, а не замеры производительности алгоритмов.</a:t>
            </a:r>
          </a:p>
        </p:txBody>
      </p:sp>
      <p:cxnSp>
        <p:nvCxnSpPr>
          <p:cNvPr id="5" name="Connector 4"/>
          <p:cNvCxnSpPr/>
          <p:nvPr/>
        </p:nvCxnSpPr>
        <p:spPr>
          <a:xfrm>
            <a:off x="548640" y="6473952"/>
            <a:ext cx="11091672" cy="0"/>
          </a:xfrm>
          <a:prstGeom prst="line">
            <a:avLst/>
          </a:prstGeom>
          <a:ln w="8890">
            <a:solidFill>
              <a:srgbClr val="DCE5E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61727C"/>
                </a:solidFill>
                <a:latin typeface="Segoe UI"/>
              </a:defRPr>
            </a:pPr>
            <a:r>
              <a:t>DunCarBox</a:t>
            </a:r>
          </a:p>
        </p:txBody>
      </p:sp>
      <p:sp>
        <p:nvSpPr>
          <p:cNvPr id="7" name="TextBox 6"/>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61727C"/>
                </a:solidFill>
                <a:latin typeface="Segoe UI"/>
              </a:defRPr>
            </a:pPr>
            <a:r>
              <a:t>ХАКАТОН / 2026</a:t>
            </a:r>
          </a:p>
        </p:txBody>
      </p:sp>
      <p:sp>
        <p:nvSpPr>
          <p:cNvPr id="8" name="TextBox 7"/>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61727C"/>
                </a:solidFill>
                <a:latin typeface="Segoe UI"/>
              </a:defRPr>
            </a:pPr>
            <a:r>
              <a:t>09</a:t>
            </a:r>
          </a:p>
        </p:txBody>
      </p:sp>
      <p:sp>
        <p:nvSpPr>
          <p:cNvPr id="9" name="Rounded Rectangle 8"/>
          <p:cNvSpPr/>
          <p:nvPr/>
        </p:nvSpPr>
        <p:spPr>
          <a:xfrm>
            <a:off x="548640" y="2660904"/>
            <a:ext cx="2624328" cy="209397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898648"/>
            <a:ext cx="2231136" cy="521207"/>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183342"/>
                </a:solidFill>
                <a:latin typeface="Segoe UI"/>
              </a:defRPr>
            </a:pPr>
            <a:r>
              <a:t>Простой заказ</a:t>
            </a:r>
          </a:p>
        </p:txBody>
      </p:sp>
      <p:sp>
        <p:nvSpPr>
          <p:cNvPr id="11" name="TextBox 10"/>
          <p:cNvSpPr txBox="1"/>
          <p:nvPr/>
        </p:nvSpPr>
        <p:spPr>
          <a:xfrm>
            <a:off x="740664" y="3547872"/>
            <a:ext cx="2249424" cy="576072"/>
          </a:xfrm>
          <a:prstGeom prst="rect">
            <a:avLst/>
          </a:prstGeom>
          <a:noFill/>
        </p:spPr>
        <p:txBody>
          <a:bodyPr wrap="square" lIns="0" rIns="0" tIns="0" bIns="0" anchor="t">
            <a:spAutoFit/>
          </a:bodyPr>
          <a:lstStyle/>
          <a:p>
            <a:pPr algn="l">
              <a:lnSpc>
                <a:spcPct val="112000"/>
              </a:lnSpc>
              <a:spcBef>
                <a:spcPts val="0"/>
              </a:spcBef>
              <a:spcAft>
                <a:spcPts val="0"/>
              </a:spcAft>
              <a:defRPr sz="3400" b="1">
                <a:solidFill>
                  <a:srgbClr val="087F8C"/>
                </a:solidFill>
                <a:latin typeface="Segoe UI"/>
              </a:defRPr>
            </a:pPr>
            <a:r>
              <a:t>2 / 2</a:t>
            </a:r>
          </a:p>
        </p:txBody>
      </p:sp>
      <p:sp>
        <p:nvSpPr>
          <p:cNvPr id="12" name="TextBox 11"/>
          <p:cNvSpPr txBox="1"/>
          <p:nvPr/>
        </p:nvSpPr>
        <p:spPr>
          <a:xfrm>
            <a:off x="749808" y="4288536"/>
            <a:ext cx="2231136" cy="283464"/>
          </a:xfrm>
          <a:prstGeom prst="rect">
            <a:avLst/>
          </a:prstGeom>
          <a:noFill/>
        </p:spPr>
        <p:txBody>
          <a:bodyPr wrap="square" lIns="0" rIns="0" tIns="0" bIns="0" anchor="t">
            <a:spAutoFit/>
          </a:bodyPr>
          <a:lstStyle/>
          <a:p>
            <a:pPr algn="l">
              <a:lnSpc>
                <a:spcPct val="112000"/>
              </a:lnSpc>
              <a:spcBef>
                <a:spcPts val="0"/>
              </a:spcBef>
              <a:spcAft>
                <a:spcPts val="0"/>
              </a:spcAft>
              <a:defRPr sz="1500" b="0">
                <a:solidFill>
                  <a:srgbClr val="61727C"/>
                </a:solidFill>
                <a:latin typeface="Segoe UI"/>
              </a:defRPr>
            </a:pPr>
            <a:r>
              <a:t>1 коробка</a:t>
            </a:r>
          </a:p>
        </p:txBody>
      </p:sp>
      <p:sp>
        <p:nvSpPr>
          <p:cNvPr id="13" name="Rounded Rectangle 12"/>
          <p:cNvSpPr/>
          <p:nvPr/>
        </p:nvSpPr>
        <p:spPr>
          <a:xfrm>
            <a:off x="3364992" y="2660904"/>
            <a:ext cx="2624328" cy="209397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2898648"/>
            <a:ext cx="2231136" cy="521207"/>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183342"/>
                </a:solidFill>
                <a:latin typeface="Segoe UI"/>
              </a:defRPr>
            </a:pPr>
            <a:r>
              <a:t>Несколько коробок</a:t>
            </a:r>
          </a:p>
        </p:txBody>
      </p:sp>
      <p:sp>
        <p:nvSpPr>
          <p:cNvPr id="15" name="TextBox 14"/>
          <p:cNvSpPr txBox="1"/>
          <p:nvPr/>
        </p:nvSpPr>
        <p:spPr>
          <a:xfrm>
            <a:off x="3557016" y="3547872"/>
            <a:ext cx="2249424" cy="576072"/>
          </a:xfrm>
          <a:prstGeom prst="rect">
            <a:avLst/>
          </a:prstGeom>
          <a:noFill/>
        </p:spPr>
        <p:txBody>
          <a:bodyPr wrap="square" lIns="0" rIns="0" tIns="0" bIns="0" anchor="t">
            <a:spAutoFit/>
          </a:bodyPr>
          <a:lstStyle/>
          <a:p>
            <a:pPr algn="l">
              <a:lnSpc>
                <a:spcPct val="112000"/>
              </a:lnSpc>
              <a:spcBef>
                <a:spcPts val="0"/>
              </a:spcBef>
              <a:spcAft>
                <a:spcPts val="0"/>
              </a:spcAft>
              <a:defRPr sz="3400" b="1">
                <a:solidFill>
                  <a:srgbClr val="087F8C"/>
                </a:solidFill>
                <a:latin typeface="Segoe UI"/>
              </a:defRPr>
            </a:pPr>
            <a:r>
              <a:t>6 / 6</a:t>
            </a:r>
          </a:p>
        </p:txBody>
      </p:sp>
      <p:sp>
        <p:nvSpPr>
          <p:cNvPr id="16" name="TextBox 15"/>
          <p:cNvSpPr txBox="1"/>
          <p:nvPr/>
        </p:nvSpPr>
        <p:spPr>
          <a:xfrm>
            <a:off x="3566160" y="4288536"/>
            <a:ext cx="2231136" cy="283464"/>
          </a:xfrm>
          <a:prstGeom prst="rect">
            <a:avLst/>
          </a:prstGeom>
          <a:noFill/>
        </p:spPr>
        <p:txBody>
          <a:bodyPr wrap="square" lIns="0" rIns="0" tIns="0" bIns="0" anchor="t">
            <a:spAutoFit/>
          </a:bodyPr>
          <a:lstStyle/>
          <a:p>
            <a:pPr algn="l">
              <a:lnSpc>
                <a:spcPct val="112000"/>
              </a:lnSpc>
              <a:spcBef>
                <a:spcPts val="0"/>
              </a:spcBef>
              <a:spcAft>
                <a:spcPts val="0"/>
              </a:spcAft>
              <a:defRPr sz="1500" b="0">
                <a:solidFill>
                  <a:srgbClr val="61727C"/>
                </a:solidFill>
                <a:latin typeface="Segoe UI"/>
              </a:defRPr>
            </a:pPr>
            <a:r>
              <a:t>2 коробки</a:t>
            </a:r>
          </a:p>
        </p:txBody>
      </p:sp>
      <p:sp>
        <p:nvSpPr>
          <p:cNvPr id="17" name="Rounded Rectangle 16"/>
          <p:cNvSpPr/>
          <p:nvPr/>
        </p:nvSpPr>
        <p:spPr>
          <a:xfrm>
            <a:off x="6181344" y="2660904"/>
            <a:ext cx="2624328" cy="209397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898648"/>
            <a:ext cx="2231136" cy="521207"/>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183342"/>
                </a:solidFill>
                <a:latin typeface="Segoe UI"/>
              </a:defRPr>
            </a:pPr>
            <a:r>
              <a:t>Крупный товар</a:t>
            </a:r>
          </a:p>
        </p:txBody>
      </p:sp>
      <p:sp>
        <p:nvSpPr>
          <p:cNvPr id="19" name="TextBox 18"/>
          <p:cNvSpPr txBox="1"/>
          <p:nvPr/>
        </p:nvSpPr>
        <p:spPr>
          <a:xfrm>
            <a:off x="6373368" y="3547872"/>
            <a:ext cx="2249424" cy="576072"/>
          </a:xfrm>
          <a:prstGeom prst="rect">
            <a:avLst/>
          </a:prstGeom>
          <a:noFill/>
        </p:spPr>
        <p:txBody>
          <a:bodyPr wrap="square" lIns="0" rIns="0" tIns="0" bIns="0" anchor="t">
            <a:spAutoFit/>
          </a:bodyPr>
          <a:lstStyle/>
          <a:p>
            <a:pPr algn="l">
              <a:lnSpc>
                <a:spcPct val="112000"/>
              </a:lnSpc>
              <a:spcBef>
                <a:spcPts val="0"/>
              </a:spcBef>
              <a:spcAft>
                <a:spcPts val="0"/>
              </a:spcAft>
              <a:defRPr sz="3400" b="1">
                <a:solidFill>
                  <a:srgbClr val="EF765C"/>
                </a:solidFill>
                <a:latin typeface="Segoe UI"/>
              </a:defRPr>
            </a:pPr>
            <a:r>
              <a:t>0 / 1</a:t>
            </a:r>
          </a:p>
        </p:txBody>
      </p:sp>
      <p:sp>
        <p:nvSpPr>
          <p:cNvPr id="20" name="TextBox 19"/>
          <p:cNvSpPr txBox="1"/>
          <p:nvPr/>
        </p:nvSpPr>
        <p:spPr>
          <a:xfrm>
            <a:off x="6382512" y="4288536"/>
            <a:ext cx="2231136" cy="283464"/>
          </a:xfrm>
          <a:prstGeom prst="rect">
            <a:avLst/>
          </a:prstGeom>
          <a:noFill/>
        </p:spPr>
        <p:txBody>
          <a:bodyPr wrap="square" lIns="0" rIns="0" tIns="0" bIns="0" anchor="t">
            <a:spAutoFit/>
          </a:bodyPr>
          <a:lstStyle/>
          <a:p>
            <a:pPr algn="l">
              <a:lnSpc>
                <a:spcPct val="112000"/>
              </a:lnSpc>
              <a:spcBef>
                <a:spcPts val="0"/>
              </a:spcBef>
              <a:spcAft>
                <a:spcPts val="0"/>
              </a:spcAft>
              <a:defRPr sz="1500" b="0">
                <a:solidFill>
                  <a:srgbClr val="61727C"/>
                </a:solidFill>
                <a:latin typeface="Segoe UI"/>
              </a:defRPr>
            </a:pPr>
            <a:r>
              <a:t>Не помещается</a:t>
            </a:r>
          </a:p>
        </p:txBody>
      </p:sp>
      <p:sp>
        <p:nvSpPr>
          <p:cNvPr id="21" name="Rounded Rectangle 20"/>
          <p:cNvSpPr/>
          <p:nvPr/>
        </p:nvSpPr>
        <p:spPr>
          <a:xfrm>
            <a:off x="8997696" y="2660904"/>
            <a:ext cx="2624328" cy="209397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98864" y="2898648"/>
            <a:ext cx="2231136" cy="521207"/>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183342"/>
                </a:solidFill>
                <a:latin typeface="Segoe UI"/>
              </a:defRPr>
            </a:pPr>
            <a:r>
              <a:t>Дефицит коробок</a:t>
            </a:r>
          </a:p>
        </p:txBody>
      </p:sp>
      <p:sp>
        <p:nvSpPr>
          <p:cNvPr id="23" name="TextBox 22"/>
          <p:cNvSpPr txBox="1"/>
          <p:nvPr/>
        </p:nvSpPr>
        <p:spPr>
          <a:xfrm>
            <a:off x="9189720" y="3547872"/>
            <a:ext cx="2249424" cy="576072"/>
          </a:xfrm>
          <a:prstGeom prst="rect">
            <a:avLst/>
          </a:prstGeom>
          <a:noFill/>
        </p:spPr>
        <p:txBody>
          <a:bodyPr wrap="square" lIns="0" rIns="0" tIns="0" bIns="0" anchor="t">
            <a:spAutoFit/>
          </a:bodyPr>
          <a:lstStyle/>
          <a:p>
            <a:pPr algn="l">
              <a:lnSpc>
                <a:spcPct val="112000"/>
              </a:lnSpc>
              <a:spcBef>
                <a:spcPts val="0"/>
              </a:spcBef>
              <a:spcAft>
                <a:spcPts val="0"/>
              </a:spcAft>
              <a:defRPr sz="3400" b="1">
                <a:solidFill>
                  <a:srgbClr val="EF765C"/>
                </a:solidFill>
                <a:latin typeface="Segoe UI"/>
              </a:defRPr>
            </a:pPr>
            <a:r>
              <a:t>1 / 3</a:t>
            </a:r>
          </a:p>
        </p:txBody>
      </p:sp>
      <p:sp>
        <p:nvSpPr>
          <p:cNvPr id="24" name="TextBox 23"/>
          <p:cNvSpPr txBox="1"/>
          <p:nvPr/>
        </p:nvSpPr>
        <p:spPr>
          <a:xfrm>
            <a:off x="9198864" y="4288536"/>
            <a:ext cx="2231136" cy="283464"/>
          </a:xfrm>
          <a:prstGeom prst="rect">
            <a:avLst/>
          </a:prstGeom>
          <a:noFill/>
        </p:spPr>
        <p:txBody>
          <a:bodyPr wrap="square" lIns="0" rIns="0" tIns="0" bIns="0" anchor="t">
            <a:spAutoFit/>
          </a:bodyPr>
          <a:lstStyle/>
          <a:p>
            <a:pPr algn="l">
              <a:lnSpc>
                <a:spcPct val="112000"/>
              </a:lnSpc>
              <a:spcBef>
                <a:spcPts val="0"/>
              </a:spcBef>
              <a:spcAft>
                <a:spcPts val="0"/>
              </a:spcAft>
              <a:defRPr sz="1500" b="0">
                <a:solidFill>
                  <a:srgbClr val="61727C"/>
                </a:solidFill>
                <a:latin typeface="Segoe UI"/>
              </a:defRPr>
            </a:pPr>
            <a:r>
              <a:t>Частичный план</a:t>
            </a:r>
          </a:p>
        </p:txBody>
      </p:sp>
      <p:sp>
        <p:nvSpPr>
          <p:cNvPr id="25" name="Rounded Rectangle 24"/>
          <p:cNvSpPr/>
          <p:nvPr/>
        </p:nvSpPr>
        <p:spPr>
          <a:xfrm>
            <a:off x="548640" y="5111496"/>
            <a:ext cx="11091672" cy="1042415"/>
          </a:xfrm>
          <a:prstGeom prst="roundRect">
            <a:avLst>
              <a:gd name="adj" fmla="val 12000"/>
            </a:avLst>
          </a:prstGeom>
          <a:solidFill>
            <a:srgbClr val="172D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 y="5276088"/>
            <a:ext cx="2523744" cy="649224"/>
          </a:xfrm>
          <a:prstGeom prst="rect">
            <a:avLst/>
          </a:prstGeom>
          <a:noFill/>
        </p:spPr>
        <p:txBody>
          <a:bodyPr wrap="square" lIns="0" rIns="0" tIns="0" bIns="0" anchor="t">
            <a:spAutoFit/>
          </a:bodyPr>
          <a:lstStyle/>
          <a:p>
            <a:pPr algn="l">
              <a:lnSpc>
                <a:spcPct val="112000"/>
              </a:lnSpc>
              <a:spcBef>
                <a:spcPts val="0"/>
              </a:spcBef>
              <a:spcAft>
                <a:spcPts val="0"/>
              </a:spcAft>
              <a:defRPr sz="3800" b="1">
                <a:solidFill>
                  <a:srgbClr val="FFFFFF"/>
                </a:solidFill>
                <a:latin typeface="Segoe UI"/>
              </a:defRPr>
            </a:pPr>
            <a:r>
              <a:t>10 000</a:t>
            </a:r>
          </a:p>
        </p:txBody>
      </p:sp>
      <p:sp>
        <p:nvSpPr>
          <p:cNvPr id="27" name="TextBox 26"/>
          <p:cNvSpPr txBox="1"/>
          <p:nvPr/>
        </p:nvSpPr>
        <p:spPr>
          <a:xfrm>
            <a:off x="3008376" y="5550408"/>
            <a:ext cx="1463040" cy="256032"/>
          </a:xfrm>
          <a:prstGeom prst="rect">
            <a:avLst/>
          </a:prstGeom>
          <a:noFill/>
        </p:spPr>
        <p:txBody>
          <a:bodyPr wrap="square" lIns="0" rIns="0" tIns="0" bIns="0" anchor="t">
            <a:spAutoFit/>
          </a:bodyPr>
          <a:lstStyle/>
          <a:p>
            <a:pPr algn="l">
              <a:lnSpc>
                <a:spcPct val="112000"/>
              </a:lnSpc>
              <a:spcBef>
                <a:spcPts val="0"/>
              </a:spcBef>
              <a:spcAft>
                <a:spcPts val="0"/>
              </a:spcAft>
              <a:defRPr sz="1500" b="0">
                <a:solidFill>
                  <a:srgbClr val="C6D7DC"/>
                </a:solidFill>
                <a:latin typeface="Segoe UI"/>
              </a:defRPr>
            </a:pPr>
            <a:r>
              <a:t>предметов</a:t>
            </a:r>
          </a:p>
        </p:txBody>
      </p:sp>
      <p:sp>
        <p:nvSpPr>
          <p:cNvPr id="28" name="TextBox 27"/>
          <p:cNvSpPr txBox="1"/>
          <p:nvPr/>
        </p:nvSpPr>
        <p:spPr>
          <a:xfrm>
            <a:off x="4645152" y="5303520"/>
            <a:ext cx="6537960" cy="365760"/>
          </a:xfrm>
          <a:prstGeom prst="rect">
            <a:avLst/>
          </a:prstGeom>
          <a:noFill/>
        </p:spPr>
        <p:txBody>
          <a:bodyPr wrap="square" lIns="0" rIns="0" tIns="0" bIns="0" anchor="t">
            <a:spAutoFit/>
          </a:bodyPr>
          <a:lstStyle/>
          <a:p>
            <a:pPr algn="l">
              <a:lnSpc>
                <a:spcPct val="112000"/>
              </a:lnSpc>
              <a:spcBef>
                <a:spcPts val="0"/>
              </a:spcBef>
              <a:spcAft>
                <a:spcPts val="0"/>
              </a:spcAft>
              <a:defRPr sz="2200" b="1">
                <a:solidFill>
                  <a:srgbClr val="FFFFFF"/>
                </a:solidFill>
                <a:latin typeface="Segoe UI"/>
              </a:defRPr>
            </a:pPr>
            <a:r>
              <a:t>100 видов · 8 типов коробок</a:t>
            </a:r>
          </a:p>
        </p:txBody>
      </p:sp>
      <p:sp>
        <p:nvSpPr>
          <p:cNvPr id="29" name="TextBox 28"/>
          <p:cNvSpPr txBox="1"/>
          <p:nvPr/>
        </p:nvSpPr>
        <p:spPr>
          <a:xfrm>
            <a:off x="4672584" y="5751576"/>
            <a:ext cx="6547104" cy="256032"/>
          </a:xfrm>
          <a:prstGeom prst="rect">
            <a:avLst/>
          </a:prstGeom>
          <a:noFill/>
        </p:spPr>
        <p:txBody>
          <a:bodyPr wrap="square" lIns="0" rIns="0" tIns="0" bIns="0" anchor="t">
            <a:spAutoFit/>
          </a:bodyPr>
          <a:lstStyle/>
          <a:p>
            <a:pPr algn="l">
              <a:lnSpc>
                <a:spcPct val="112000"/>
              </a:lnSpc>
              <a:spcBef>
                <a:spcPts val="0"/>
              </a:spcBef>
              <a:spcAft>
                <a:spcPts val="0"/>
              </a:spcAft>
              <a:defRPr sz="1400" b="0">
                <a:solidFill>
                  <a:srgbClr val="C6D7DC"/>
                </a:solidFill>
                <a:latin typeface="Segoe UI"/>
              </a:defRPr>
            </a:pPr>
            <a:r>
              <a:t>Отдельный серверный сценарий: рассчитывается заново.</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D3C"/>
        </a:solidFill>
        <a:effectLst/>
      </p:bgPr>
    </p:bg>
    <p:spTree>
      <p:nvGrpSpPr>
        <p:cNvPr id="1" name=""/>
        <p:cNvGrpSpPr/>
        <p:nvPr/>
      </p:nvGrpSpPr>
      <p:grpSpPr/>
      <p:sp>
        <p:nvSpPr>
          <p:cNvPr id="2" name="TextBox 1"/>
          <p:cNvSpPr txBox="1"/>
          <p:nvPr/>
        </p:nvSpPr>
        <p:spPr>
          <a:xfrm>
            <a:off x="548640" y="320040"/>
            <a:ext cx="822960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A7E4DA"/>
                </a:solidFill>
                <a:latin typeface="Segoe UI"/>
              </a:defRPr>
            </a:pPr>
            <a:r>
              <a:t>10 / ДАЛЬШЕ</a:t>
            </a:r>
          </a:p>
        </p:txBody>
      </p:sp>
      <p:sp>
        <p:nvSpPr>
          <p:cNvPr id="3" name="TextBox 2"/>
          <p:cNvSpPr txBox="1"/>
          <p:nvPr/>
        </p:nvSpPr>
        <p:spPr>
          <a:xfrm>
            <a:off x="548640" y="868680"/>
            <a:ext cx="11018520" cy="1207008"/>
          </a:xfrm>
          <a:prstGeom prst="rect">
            <a:avLst/>
          </a:prstGeom>
          <a:noFill/>
        </p:spPr>
        <p:txBody>
          <a:bodyPr wrap="square" lIns="0" rIns="0" tIns="0" bIns="0" anchor="t">
            <a:spAutoFit/>
          </a:bodyPr>
          <a:lstStyle/>
          <a:p>
            <a:pPr algn="l">
              <a:lnSpc>
                <a:spcPct val="106000"/>
              </a:lnSpc>
              <a:spcBef>
                <a:spcPts val="0"/>
              </a:spcBef>
              <a:spcAft>
                <a:spcPts val="0"/>
              </a:spcAft>
              <a:defRPr sz="3300" b="1">
                <a:solidFill>
                  <a:srgbClr val="FFFFFF"/>
                </a:solidFill>
                <a:latin typeface="Segoe UI"/>
              </a:defRPr>
            </a:pPr>
            <a:r>
              <a:t>Следующий шаг — пилот</a:t>
            </a:r>
          </a:p>
          <a:p>
            <a:pPr algn="l">
              <a:lnSpc>
                <a:spcPct val="106000"/>
              </a:lnSpc>
              <a:spcBef>
                <a:spcPts val="0"/>
              </a:spcBef>
              <a:spcAft>
                <a:spcPts val="0"/>
              </a:spcAft>
              <a:defRPr sz="3300" b="1">
                <a:solidFill>
                  <a:srgbClr val="FFFFFF"/>
                </a:solidFill>
                <a:latin typeface="Segoe UI"/>
              </a:defRPr>
            </a:pPr>
            <a:r>
              <a:t>на реальных заказах</a:t>
            </a:r>
          </a:p>
        </p:txBody>
      </p:sp>
      <p:cxnSp>
        <p:nvCxnSpPr>
          <p:cNvPr id="4" name="Connector 3"/>
          <p:cNvCxnSpPr/>
          <p:nvPr/>
        </p:nvCxnSpPr>
        <p:spPr>
          <a:xfrm>
            <a:off x="548640" y="6473952"/>
            <a:ext cx="11091672" cy="0"/>
          </a:xfrm>
          <a:prstGeom prst="line">
            <a:avLst/>
          </a:prstGeom>
          <a:ln w="8890">
            <a:solidFill>
              <a:srgbClr val="31495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56248"/>
            <a:ext cx="2743200" cy="182880"/>
          </a:xfrm>
          <a:prstGeom prst="rect">
            <a:avLst/>
          </a:prstGeom>
          <a:noFill/>
        </p:spPr>
        <p:txBody>
          <a:bodyPr wrap="square" lIns="0" rIns="0" tIns="0" bIns="0" anchor="t">
            <a:spAutoFit/>
          </a:bodyPr>
          <a:lstStyle/>
          <a:p>
            <a:pPr algn="l">
              <a:lnSpc>
                <a:spcPct val="112000"/>
              </a:lnSpc>
              <a:spcBef>
                <a:spcPts val="0"/>
              </a:spcBef>
              <a:spcAft>
                <a:spcPts val="0"/>
              </a:spcAft>
              <a:defRPr sz="1000" b="1">
                <a:solidFill>
                  <a:srgbClr val="B1C2CA"/>
                </a:solidFill>
                <a:latin typeface="Segoe UI"/>
              </a:defRPr>
            </a:pPr>
            <a:r>
              <a:t>DunCarBox</a:t>
            </a:r>
          </a:p>
        </p:txBody>
      </p:sp>
      <p:sp>
        <p:nvSpPr>
          <p:cNvPr id="6" name="TextBox 5"/>
          <p:cNvSpPr txBox="1"/>
          <p:nvPr/>
        </p:nvSpPr>
        <p:spPr>
          <a:xfrm>
            <a:off x="4846320" y="6556248"/>
            <a:ext cx="2743200" cy="182880"/>
          </a:xfrm>
          <a:prstGeom prst="rect">
            <a:avLst/>
          </a:prstGeom>
          <a:noFill/>
        </p:spPr>
        <p:txBody>
          <a:bodyPr wrap="square" lIns="0" rIns="0" tIns="0" bIns="0" anchor="t">
            <a:spAutoFit/>
          </a:bodyPr>
          <a:lstStyle/>
          <a:p>
            <a:pPr algn="ctr">
              <a:lnSpc>
                <a:spcPct val="112000"/>
              </a:lnSpc>
              <a:spcBef>
                <a:spcPts val="0"/>
              </a:spcBef>
              <a:spcAft>
                <a:spcPts val="0"/>
              </a:spcAft>
              <a:defRPr sz="900" b="0">
                <a:solidFill>
                  <a:srgbClr val="B1C2CA"/>
                </a:solidFill>
                <a:latin typeface="Segoe UI"/>
              </a:defRPr>
            </a:pPr>
            <a:r>
              <a:t>ХАКАТОН / 2026</a:t>
            </a:r>
          </a:p>
        </p:txBody>
      </p:sp>
      <p:sp>
        <p:nvSpPr>
          <p:cNvPr id="7" name="TextBox 6"/>
          <p:cNvSpPr txBox="1"/>
          <p:nvPr/>
        </p:nvSpPr>
        <p:spPr>
          <a:xfrm>
            <a:off x="11091672" y="6537960"/>
            <a:ext cx="548640" cy="219456"/>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B1C2CA"/>
                </a:solidFill>
                <a:latin typeface="Segoe UI"/>
              </a:defRPr>
            </a:pPr>
            <a:r>
              <a:t>10</a:t>
            </a:r>
          </a:p>
        </p:txBody>
      </p:sp>
      <p:sp>
        <p:nvSpPr>
          <p:cNvPr id="8" name="TextBox 7"/>
          <p:cNvSpPr txBox="1"/>
          <p:nvPr/>
        </p:nvSpPr>
        <p:spPr>
          <a:xfrm>
            <a:off x="594360" y="2779776"/>
            <a:ext cx="3410712" cy="594360"/>
          </a:xfrm>
          <a:prstGeom prst="rect">
            <a:avLst/>
          </a:prstGeom>
          <a:noFill/>
        </p:spPr>
        <p:txBody>
          <a:bodyPr wrap="square" lIns="0" rIns="0" tIns="0" bIns="0" anchor="t">
            <a:spAutoFit/>
          </a:bodyPr>
          <a:lstStyle/>
          <a:p>
            <a:pPr algn="l">
              <a:lnSpc>
                <a:spcPct val="112000"/>
              </a:lnSpc>
              <a:spcBef>
                <a:spcPts val="0"/>
              </a:spcBef>
              <a:spcAft>
                <a:spcPts val="0"/>
              </a:spcAft>
              <a:defRPr sz="4000" b="1">
                <a:solidFill>
                  <a:srgbClr val="A7E4DA"/>
                </a:solidFill>
                <a:latin typeface="Segoe UI"/>
              </a:defRPr>
            </a:pPr>
            <a:r>
              <a:t>01</a:t>
            </a:r>
          </a:p>
        </p:txBody>
      </p:sp>
      <p:sp>
        <p:nvSpPr>
          <p:cNvPr id="9" name="TextBox 8"/>
          <p:cNvSpPr txBox="1"/>
          <p:nvPr/>
        </p:nvSpPr>
        <p:spPr>
          <a:xfrm>
            <a:off x="594360" y="3657600"/>
            <a:ext cx="3438144" cy="493776"/>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FFFFFF"/>
                </a:solidFill>
                <a:latin typeface="Segoe UI"/>
              </a:defRPr>
            </a:pPr>
            <a:r>
              <a:t>Измерить</a:t>
            </a:r>
          </a:p>
        </p:txBody>
      </p:sp>
      <p:sp>
        <p:nvSpPr>
          <p:cNvPr id="10" name="TextBox 9"/>
          <p:cNvSpPr txBox="1"/>
          <p:nvPr/>
        </p:nvSpPr>
        <p:spPr>
          <a:xfrm>
            <a:off x="594360" y="4453128"/>
            <a:ext cx="3438144" cy="704088"/>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C6D7DC"/>
                </a:solidFill>
                <a:latin typeface="Segoe UI"/>
              </a:defRPr>
            </a:pPr>
            <a:r>
              <a:t>Время сборки, заполнение</a:t>
            </a:r>
          </a:p>
          <a:p>
            <a:pPr algn="l">
              <a:lnSpc>
                <a:spcPct val="112000"/>
              </a:lnSpc>
              <a:spcBef>
                <a:spcPts val="0"/>
              </a:spcBef>
              <a:spcAft>
                <a:spcPts val="0"/>
              </a:spcAft>
              <a:defRPr sz="1800" b="0">
                <a:solidFill>
                  <a:srgbClr val="C6D7DC"/>
                </a:solidFill>
                <a:latin typeface="Segoe UI"/>
              </a:defRPr>
            </a:pPr>
            <a:r>
              <a:t>и ручные исправления.</a:t>
            </a:r>
          </a:p>
        </p:txBody>
      </p:sp>
      <p:sp>
        <p:nvSpPr>
          <p:cNvPr id="11" name="TextBox 10"/>
          <p:cNvSpPr txBox="1"/>
          <p:nvPr/>
        </p:nvSpPr>
        <p:spPr>
          <a:xfrm>
            <a:off x="4361688" y="2779776"/>
            <a:ext cx="3410712" cy="594360"/>
          </a:xfrm>
          <a:prstGeom prst="rect">
            <a:avLst/>
          </a:prstGeom>
          <a:noFill/>
        </p:spPr>
        <p:txBody>
          <a:bodyPr wrap="square" lIns="0" rIns="0" tIns="0" bIns="0" anchor="t">
            <a:spAutoFit/>
          </a:bodyPr>
          <a:lstStyle/>
          <a:p>
            <a:pPr algn="l">
              <a:lnSpc>
                <a:spcPct val="112000"/>
              </a:lnSpc>
              <a:spcBef>
                <a:spcPts val="0"/>
              </a:spcBef>
              <a:spcAft>
                <a:spcPts val="0"/>
              </a:spcAft>
              <a:defRPr sz="4000" b="1">
                <a:solidFill>
                  <a:srgbClr val="EF765C"/>
                </a:solidFill>
                <a:latin typeface="Segoe UI"/>
              </a:defRPr>
            </a:pPr>
            <a:r>
              <a:t>02</a:t>
            </a:r>
          </a:p>
        </p:txBody>
      </p:sp>
      <p:sp>
        <p:nvSpPr>
          <p:cNvPr id="12" name="TextBox 11"/>
          <p:cNvSpPr txBox="1"/>
          <p:nvPr/>
        </p:nvSpPr>
        <p:spPr>
          <a:xfrm>
            <a:off x="4361688" y="3657600"/>
            <a:ext cx="3438144" cy="493776"/>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FFFFFF"/>
                </a:solidFill>
                <a:latin typeface="Segoe UI"/>
              </a:defRPr>
            </a:pPr>
            <a:r>
              <a:t>Уточнить модель</a:t>
            </a:r>
          </a:p>
        </p:txBody>
      </p:sp>
      <p:sp>
        <p:nvSpPr>
          <p:cNvPr id="13" name="TextBox 12"/>
          <p:cNvSpPr txBox="1"/>
          <p:nvPr/>
        </p:nvSpPr>
        <p:spPr>
          <a:xfrm>
            <a:off x="4361688" y="4453128"/>
            <a:ext cx="3438144" cy="704088"/>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C6D7DC"/>
                </a:solidFill>
                <a:latin typeface="Segoe UI"/>
              </a:defRPr>
            </a:pPr>
            <a:r>
              <a:t>Хрупкость, нагрузки</a:t>
            </a:r>
          </a:p>
          <a:p>
            <a:pPr algn="l">
              <a:lnSpc>
                <a:spcPct val="112000"/>
              </a:lnSpc>
              <a:spcBef>
                <a:spcPts val="0"/>
              </a:spcBef>
              <a:spcAft>
                <a:spcPts val="0"/>
              </a:spcAft>
              <a:defRPr sz="1800" b="0">
                <a:solidFill>
                  <a:srgbClr val="C6D7DC"/>
                </a:solidFill>
                <a:latin typeface="Segoe UI"/>
              </a:defRPr>
            </a:pPr>
            <a:r>
              <a:t>и стоимость коробок.</a:t>
            </a:r>
          </a:p>
        </p:txBody>
      </p:sp>
      <p:sp>
        <p:nvSpPr>
          <p:cNvPr id="14" name="TextBox 13"/>
          <p:cNvSpPr txBox="1"/>
          <p:nvPr/>
        </p:nvSpPr>
        <p:spPr>
          <a:xfrm>
            <a:off x="8129016" y="2779776"/>
            <a:ext cx="3410712" cy="594360"/>
          </a:xfrm>
          <a:prstGeom prst="rect">
            <a:avLst/>
          </a:prstGeom>
          <a:noFill/>
        </p:spPr>
        <p:txBody>
          <a:bodyPr wrap="square" lIns="0" rIns="0" tIns="0" bIns="0" anchor="t">
            <a:spAutoFit/>
          </a:bodyPr>
          <a:lstStyle/>
          <a:p>
            <a:pPr algn="l">
              <a:lnSpc>
                <a:spcPct val="112000"/>
              </a:lnSpc>
              <a:spcBef>
                <a:spcPts val="0"/>
              </a:spcBef>
              <a:spcAft>
                <a:spcPts val="0"/>
              </a:spcAft>
              <a:defRPr sz="4000" b="1">
                <a:solidFill>
                  <a:srgbClr val="A7E4DA"/>
                </a:solidFill>
                <a:latin typeface="Segoe UI"/>
              </a:defRPr>
            </a:pPr>
            <a:r>
              <a:t>03</a:t>
            </a:r>
          </a:p>
        </p:txBody>
      </p:sp>
      <p:sp>
        <p:nvSpPr>
          <p:cNvPr id="15" name="TextBox 14"/>
          <p:cNvSpPr txBox="1"/>
          <p:nvPr/>
        </p:nvSpPr>
        <p:spPr>
          <a:xfrm>
            <a:off x="8129016" y="3657600"/>
            <a:ext cx="3438144" cy="493776"/>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FFFFFF"/>
                </a:solidFill>
                <a:latin typeface="Segoe UI"/>
              </a:defRPr>
            </a:pPr>
            <a:r>
              <a:t>Интегрировать</a:t>
            </a:r>
          </a:p>
        </p:txBody>
      </p:sp>
      <p:sp>
        <p:nvSpPr>
          <p:cNvPr id="16" name="TextBox 15"/>
          <p:cNvSpPr txBox="1"/>
          <p:nvPr/>
        </p:nvSpPr>
        <p:spPr>
          <a:xfrm>
            <a:off x="8129016" y="4453128"/>
            <a:ext cx="3438144" cy="704088"/>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C6D7DC"/>
                </a:solidFill>
                <a:latin typeface="Segoe UI"/>
              </a:defRPr>
            </a:pPr>
            <a:r>
              <a:t>WMS, резервирование</a:t>
            </a:r>
          </a:p>
          <a:p>
            <a:pPr algn="l">
              <a:lnSpc>
                <a:spcPct val="112000"/>
              </a:lnSpc>
              <a:spcBef>
                <a:spcPts val="0"/>
              </a:spcBef>
              <a:spcAft>
                <a:spcPts val="0"/>
              </a:spcAft>
              <a:defRPr sz="1800" b="0">
                <a:solidFill>
                  <a:srgbClr val="C6D7DC"/>
                </a:solidFill>
                <a:latin typeface="Segoe UI"/>
              </a:defRPr>
            </a:pPr>
            <a:r>
              <a:t>и история заказов.</a:t>
            </a:r>
          </a:p>
        </p:txBody>
      </p:sp>
      <p:cxnSp>
        <p:nvCxnSpPr>
          <p:cNvPr id="17" name="Connector 16"/>
          <p:cNvCxnSpPr/>
          <p:nvPr/>
        </p:nvCxnSpPr>
        <p:spPr>
          <a:xfrm>
            <a:off x="594360" y="5541264"/>
            <a:ext cx="11000232" cy="0"/>
          </a:xfrm>
          <a:prstGeom prst="line">
            <a:avLst/>
          </a:prstGeom>
          <a:ln w="12700">
            <a:solidFill>
              <a:srgbClr val="41606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5806440"/>
            <a:ext cx="3227832" cy="466344"/>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FFFFFF"/>
                </a:solidFill>
                <a:latin typeface="Segoe UI"/>
              </a:defRPr>
            </a:pPr>
            <a:r>
              <a:t>DunCarBox</a:t>
            </a:r>
          </a:p>
        </p:txBody>
      </p:sp>
      <p:sp>
        <p:nvSpPr>
          <p:cNvPr id="19" name="TextBox 18"/>
          <p:cNvSpPr txBox="1"/>
          <p:nvPr/>
        </p:nvSpPr>
        <p:spPr>
          <a:xfrm>
            <a:off x="4133087" y="5824728"/>
            <a:ext cx="7479792" cy="402336"/>
          </a:xfrm>
          <a:prstGeom prst="rect">
            <a:avLst/>
          </a:prstGeom>
          <a:noFill/>
        </p:spPr>
        <p:txBody>
          <a:bodyPr wrap="square" lIns="0" rIns="0" tIns="0" bIns="0" anchor="t">
            <a:spAutoFit/>
          </a:bodyPr>
          <a:lstStyle/>
          <a:p>
            <a:pPr algn="r">
              <a:lnSpc>
                <a:spcPct val="112000"/>
              </a:lnSpc>
              <a:spcBef>
                <a:spcPts val="0"/>
              </a:spcBef>
              <a:spcAft>
                <a:spcPts val="0"/>
              </a:spcAft>
              <a:defRPr sz="2400" b="1">
                <a:solidFill>
                  <a:srgbClr val="A7E4DA"/>
                </a:solidFill>
                <a:latin typeface="Segoe UI"/>
              </a:defRPr>
            </a:pPr>
            <a:r>
              <a:t>Понятный план для каждой коробки.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DunCarBox — от заказа к понятной укладке</dc:title>
  <dc:subject>Презентация хакатонного MVP, 5–7 минут</dc:subject>
  <dc:creator>DunCarBox</dc:creator>
  <cp:keywords>упаковка, склад, 3D, Z3, FastAPI, React</cp:keywords>
  <dc:description>Редактируемые тексты и схемы. Демо-метрики взяты из demo/*.response.json.</dc:description>
  <cp:lastModifiedBy>Steve Canny</cp:lastModifiedBy>
  <cp:revision>1</cp:revision>
  <dcterms:created xsi:type="dcterms:W3CDTF">2013-01-27T09:14:16Z</dcterms:created>
  <dcterms:modified xsi:type="dcterms:W3CDTF">2013-01-27T09:15:58Z</dcterms:modified>
  <cp:category/>
</cp:coreProperties>
</file>